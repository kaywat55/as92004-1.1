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268" r:id="rId55"/>
    <p:sldId id="311" r:id="rId56"/>
    <p:sldId id="312" r:id="rId57"/>
    <p:sldId id="313" r:id="rId58"/>
    <p:sldId id="314" r:id="rId59"/>
    <p:sldId id="325" r:id="rId60"/>
    <p:sldId id="260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3" r:id="rId119"/>
    <p:sldId id="384" r:id="rId120"/>
    <p:sldId id="385" r:id="rId121"/>
    <p:sldId id="386" r:id="rId122"/>
    <p:sldId id="387" r:id="rId123"/>
    <p:sldId id="388" r:id="rId124"/>
    <p:sldId id="389" r:id="rId125"/>
    <p:sldId id="390" r:id="rId126"/>
    <p:sldId id="391" r:id="rId127"/>
    <p:sldId id="392" r:id="rId128"/>
    <p:sldId id="393" r:id="rId129"/>
    <p:sldId id="394" r:id="rId130"/>
    <p:sldId id="395" r:id="rId131"/>
    <p:sldId id="396" r:id="rId132"/>
    <p:sldId id="397" r:id="rId133"/>
    <p:sldId id="398" r:id="rId134"/>
    <p:sldId id="399" r:id="rId135"/>
    <p:sldId id="400" r:id="rId136"/>
    <p:sldId id="401" r:id="rId137"/>
    <p:sldId id="402" r:id="rId138"/>
    <p:sldId id="403" r:id="rId139"/>
    <p:sldId id="404" r:id="rId140"/>
    <p:sldId id="405" r:id="rId141"/>
    <p:sldId id="406" r:id="rId142"/>
    <p:sldId id="407" r:id="rId143"/>
    <p:sldId id="408" r:id="rId144"/>
    <p:sldId id="409" r:id="rId145"/>
    <p:sldId id="410" r:id="rId146"/>
    <p:sldId id="411" r:id="rId147"/>
    <p:sldId id="412" r:id="rId148"/>
    <p:sldId id="413" r:id="rId149"/>
    <p:sldId id="414" r:id="rId150"/>
    <p:sldId id="415" r:id="rId151"/>
    <p:sldId id="416" r:id="rId152"/>
    <p:sldId id="417" r:id="rId153"/>
  </p:sldIdLst>
  <p:sldSz cx="9144000" cy="5143500" type="screen16x9"/>
  <p:notesSz cx="6858000" cy="9144000"/>
  <p:embeddedFontLst>
    <p:embeddedFont>
      <p:font typeface="Quicksand" panose="020B0604020202020204" charset="0"/>
      <p:regular r:id="rId155"/>
      <p:bold r:id="rId156"/>
    </p:embeddedFont>
    <p:embeddedFont>
      <p:font typeface="Quicksand Medium" panose="020B0604020202020204" charset="0"/>
      <p:regular r:id="rId157"/>
      <p:bold r:id="rId158"/>
    </p:embeddedFont>
    <p:embeddedFont>
      <p:font typeface="Roboto Mono" panose="00000009000000000000" pitchFamily="49" charset="0"/>
      <p:regular r:id="rId159"/>
      <p:bold r:id="rId1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31D00-C3CC-483A-8FBC-1AAF04AB0B8E}" v="7" dt="2026-02-14T01:02:12.033"/>
  </p1510:revLst>
</p1510:revInfo>
</file>

<file path=ppt/tableStyles.xml><?xml version="1.0" encoding="utf-8"?>
<a:tblStyleLst xmlns:a="http://schemas.openxmlformats.org/drawingml/2006/main" def="{14D62C2C-E14B-4527-ADFF-AFE42EB808C8}">
  <a:tblStyle styleId="{14D62C2C-E14B-4527-ADFF-AFE42EB808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font" Target="fonts/font5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font" Target="fonts/font6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6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font" Target="fonts/font2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customXml" Target="../customXml/item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16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microsoft.com/office/2016/11/relationships/changesInfo" Target="changesInfos/changesInfo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font" Target="fonts/font1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hara Rodrigo" userId="5d6276f8-0f45-4e1f-967f-d84b96b04653" providerId="ADAL" clId="{9088DCA9-89EF-445B-A2A8-38AB007D75EC}"/>
    <pc:docChg chg="undo custSel addSld delSld modSld">
      <pc:chgData name="Shehara Rodrigo" userId="5d6276f8-0f45-4e1f-967f-d84b96b04653" providerId="ADAL" clId="{9088DCA9-89EF-445B-A2A8-38AB007D75EC}" dt="2026-02-14T01:06:57.359" v="80" actId="20577"/>
      <pc:docMkLst>
        <pc:docMk/>
      </pc:docMkLst>
      <pc:sldChg chg="modSp mod">
        <pc:chgData name="Shehara Rodrigo" userId="5d6276f8-0f45-4e1f-967f-d84b96b04653" providerId="ADAL" clId="{9088DCA9-89EF-445B-A2A8-38AB007D75EC}" dt="2026-02-14T01:04:57.679" v="19" actId="20577"/>
        <pc:sldMkLst>
          <pc:docMk/>
          <pc:sldMk cId="0" sldId="256"/>
        </pc:sldMkLst>
        <pc:spChg chg="mod">
          <ac:chgData name="Shehara Rodrigo" userId="5d6276f8-0f45-4e1f-967f-d84b96b04653" providerId="ADAL" clId="{9088DCA9-89EF-445B-A2A8-38AB007D75EC}" dt="2026-02-14T01:04:54.987" v="13" actId="20577"/>
          <ac:spMkLst>
            <pc:docMk/>
            <pc:sldMk cId="0" sldId="256"/>
            <ac:spMk id="73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4:57.679" v="19" actId="20577"/>
          <ac:spMkLst>
            <pc:docMk/>
            <pc:sldMk cId="0" sldId="256"/>
            <ac:spMk id="74" creationId="{00000000-0000-0000-0000-000000000000}"/>
          </ac:spMkLst>
        </pc:spChg>
      </pc:sldChg>
      <pc:sldChg chg="add del setBg">
        <pc:chgData name="Shehara Rodrigo" userId="5d6276f8-0f45-4e1f-967f-d84b96b04653" providerId="ADAL" clId="{9088DCA9-89EF-445B-A2A8-38AB007D75EC}" dt="2026-02-14T00:41:04.456" v="8"/>
        <pc:sldMkLst>
          <pc:docMk/>
          <pc:sldMk cId="0" sldId="260"/>
        </pc:sldMkLst>
      </pc:sldChg>
      <pc:sldChg chg="add del setBg">
        <pc:chgData name="Shehara Rodrigo" userId="5d6276f8-0f45-4e1f-967f-d84b96b04653" providerId="ADAL" clId="{9088DCA9-89EF-445B-A2A8-38AB007D75EC}" dt="2026-02-14T00:27:08.841" v="6"/>
        <pc:sldMkLst>
          <pc:docMk/>
          <pc:sldMk cId="0" sldId="268"/>
        </pc:sldMkLst>
      </pc:sldChg>
      <pc:sldChg chg="add del">
        <pc:chgData name="Shehara Rodrigo" userId="5d6276f8-0f45-4e1f-967f-d84b96b04653" providerId="ADAL" clId="{9088DCA9-89EF-445B-A2A8-38AB007D75EC}" dt="2026-02-14T00:15:55.353" v="3" actId="47"/>
        <pc:sldMkLst>
          <pc:docMk/>
          <pc:sldMk cId="0" sldId="284"/>
        </pc:sldMkLst>
      </pc:sldChg>
      <pc:sldChg chg="modSp add del mod setBg">
        <pc:chgData name="Shehara Rodrigo" userId="5d6276f8-0f45-4e1f-967f-d84b96b04653" providerId="ADAL" clId="{9088DCA9-89EF-445B-A2A8-38AB007D75EC}" dt="2026-02-14T01:05:14.527" v="27" actId="20577"/>
        <pc:sldMkLst>
          <pc:docMk/>
          <pc:sldMk cId="0" sldId="290"/>
        </pc:sldMkLst>
        <pc:spChg chg="mod">
          <ac:chgData name="Shehara Rodrigo" userId="5d6276f8-0f45-4e1f-967f-d84b96b04653" providerId="ADAL" clId="{9088DCA9-89EF-445B-A2A8-38AB007D75EC}" dt="2026-02-14T01:05:09.661" v="21" actId="20577"/>
          <ac:spMkLst>
            <pc:docMk/>
            <pc:sldMk cId="0" sldId="290"/>
            <ac:spMk id="78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5:14.527" v="27" actId="20577"/>
          <ac:spMkLst>
            <pc:docMk/>
            <pc:sldMk cId="0" sldId="290"/>
            <ac:spMk id="79" creationId="{00000000-0000-0000-0000-000000000000}"/>
          </ac:spMkLst>
        </pc:spChg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1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2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3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4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5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6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7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8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299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300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301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302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303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304"/>
        </pc:sldMkLst>
      </pc:sldChg>
      <pc:sldChg chg="add setBg">
        <pc:chgData name="Shehara Rodrigo" userId="5d6276f8-0f45-4e1f-967f-d84b96b04653" providerId="ADAL" clId="{9088DCA9-89EF-445B-A2A8-38AB007D75EC}" dt="2026-02-14T00:22:06.673" v="5"/>
        <pc:sldMkLst>
          <pc:docMk/>
          <pc:sldMk cId="0" sldId="305"/>
        </pc:sldMkLst>
      </pc:sldChg>
      <pc:sldChg chg="modSp add mod setBg">
        <pc:chgData name="Shehara Rodrigo" userId="5d6276f8-0f45-4e1f-967f-d84b96b04653" providerId="ADAL" clId="{9088DCA9-89EF-445B-A2A8-38AB007D75EC}" dt="2026-02-14T01:05:28.349" v="35" actId="20577"/>
        <pc:sldMkLst>
          <pc:docMk/>
          <pc:sldMk cId="0" sldId="306"/>
        </pc:sldMkLst>
        <pc:spChg chg="mod">
          <ac:chgData name="Shehara Rodrigo" userId="5d6276f8-0f45-4e1f-967f-d84b96b04653" providerId="ADAL" clId="{9088DCA9-89EF-445B-A2A8-38AB007D75EC}" dt="2026-02-14T01:05:23.570" v="29" actId="20577"/>
          <ac:spMkLst>
            <pc:docMk/>
            <pc:sldMk cId="0" sldId="306"/>
            <ac:spMk id="73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5:28.349" v="35" actId="20577"/>
          <ac:spMkLst>
            <pc:docMk/>
            <pc:sldMk cId="0" sldId="306"/>
            <ac:spMk id="74" creationId="{00000000-0000-0000-0000-000000000000}"/>
          </ac:spMkLst>
        </pc:spChg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07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08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09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10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11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12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13"/>
        </pc:sldMkLst>
      </pc:sldChg>
      <pc:sldChg chg="add setBg">
        <pc:chgData name="Shehara Rodrigo" userId="5d6276f8-0f45-4e1f-967f-d84b96b04653" providerId="ADAL" clId="{9088DCA9-89EF-445B-A2A8-38AB007D75EC}" dt="2026-02-14T00:27:08.841" v="6"/>
        <pc:sldMkLst>
          <pc:docMk/>
          <pc:sldMk cId="0" sldId="314"/>
        </pc:sldMkLst>
      </pc:sldChg>
      <pc:sldChg chg="add del setBg">
        <pc:chgData name="Shehara Rodrigo" userId="5d6276f8-0f45-4e1f-967f-d84b96b04653" providerId="ADAL" clId="{9088DCA9-89EF-445B-A2A8-38AB007D75EC}" dt="2026-02-14T01:05:50.564" v="36" actId="47"/>
        <pc:sldMkLst>
          <pc:docMk/>
          <pc:sldMk cId="0" sldId="315"/>
        </pc:sldMkLst>
      </pc:sldChg>
      <pc:sldChg chg="add del setBg">
        <pc:chgData name="Shehara Rodrigo" userId="5d6276f8-0f45-4e1f-967f-d84b96b04653" providerId="ADAL" clId="{9088DCA9-89EF-445B-A2A8-38AB007D75EC}" dt="2026-02-14T01:05:51.475" v="37" actId="47"/>
        <pc:sldMkLst>
          <pc:docMk/>
          <pc:sldMk cId="0" sldId="316"/>
        </pc:sldMkLst>
      </pc:sldChg>
      <pc:sldChg chg="add del setBg">
        <pc:chgData name="Shehara Rodrigo" userId="5d6276f8-0f45-4e1f-967f-d84b96b04653" providerId="ADAL" clId="{9088DCA9-89EF-445B-A2A8-38AB007D75EC}" dt="2026-02-14T01:05:54.287" v="38" actId="47"/>
        <pc:sldMkLst>
          <pc:docMk/>
          <pc:sldMk cId="0" sldId="317"/>
        </pc:sldMkLst>
      </pc:sldChg>
      <pc:sldChg chg="add del setBg">
        <pc:chgData name="Shehara Rodrigo" userId="5d6276f8-0f45-4e1f-967f-d84b96b04653" providerId="ADAL" clId="{9088DCA9-89EF-445B-A2A8-38AB007D75EC}" dt="2026-02-14T01:05:55.074" v="39" actId="47"/>
        <pc:sldMkLst>
          <pc:docMk/>
          <pc:sldMk cId="0" sldId="318"/>
        </pc:sldMkLst>
      </pc:sldChg>
      <pc:sldChg chg="add del setBg">
        <pc:chgData name="Shehara Rodrigo" userId="5d6276f8-0f45-4e1f-967f-d84b96b04653" providerId="ADAL" clId="{9088DCA9-89EF-445B-A2A8-38AB007D75EC}" dt="2026-02-14T01:05:55.641" v="40" actId="47"/>
        <pc:sldMkLst>
          <pc:docMk/>
          <pc:sldMk cId="0" sldId="319"/>
        </pc:sldMkLst>
      </pc:sldChg>
      <pc:sldChg chg="add del setBg">
        <pc:chgData name="Shehara Rodrigo" userId="5d6276f8-0f45-4e1f-967f-d84b96b04653" providerId="ADAL" clId="{9088DCA9-89EF-445B-A2A8-38AB007D75EC}" dt="2026-02-14T01:05:56.395" v="41" actId="47"/>
        <pc:sldMkLst>
          <pc:docMk/>
          <pc:sldMk cId="0" sldId="320"/>
        </pc:sldMkLst>
      </pc:sldChg>
      <pc:sldChg chg="add del setBg">
        <pc:chgData name="Shehara Rodrigo" userId="5d6276f8-0f45-4e1f-967f-d84b96b04653" providerId="ADAL" clId="{9088DCA9-89EF-445B-A2A8-38AB007D75EC}" dt="2026-02-14T01:05:57.136" v="42" actId="47"/>
        <pc:sldMkLst>
          <pc:docMk/>
          <pc:sldMk cId="0" sldId="321"/>
        </pc:sldMkLst>
      </pc:sldChg>
      <pc:sldChg chg="add del setBg">
        <pc:chgData name="Shehara Rodrigo" userId="5d6276f8-0f45-4e1f-967f-d84b96b04653" providerId="ADAL" clId="{9088DCA9-89EF-445B-A2A8-38AB007D75EC}" dt="2026-02-14T01:05:58.032" v="43" actId="47"/>
        <pc:sldMkLst>
          <pc:docMk/>
          <pc:sldMk cId="0" sldId="322"/>
        </pc:sldMkLst>
      </pc:sldChg>
      <pc:sldChg chg="add del setBg">
        <pc:chgData name="Shehara Rodrigo" userId="5d6276f8-0f45-4e1f-967f-d84b96b04653" providerId="ADAL" clId="{9088DCA9-89EF-445B-A2A8-38AB007D75EC}" dt="2026-02-14T01:05:58.790" v="44" actId="47"/>
        <pc:sldMkLst>
          <pc:docMk/>
          <pc:sldMk cId="0" sldId="323"/>
        </pc:sldMkLst>
      </pc:sldChg>
      <pc:sldChg chg="add del setBg">
        <pc:chgData name="Shehara Rodrigo" userId="5d6276f8-0f45-4e1f-967f-d84b96b04653" providerId="ADAL" clId="{9088DCA9-89EF-445B-A2A8-38AB007D75EC}" dt="2026-02-14T01:05:59.782" v="45" actId="47"/>
        <pc:sldMkLst>
          <pc:docMk/>
          <pc:sldMk cId="0" sldId="324"/>
        </pc:sldMkLst>
      </pc:sldChg>
      <pc:sldChg chg="modSp add mod setBg">
        <pc:chgData name="Shehara Rodrigo" userId="5d6276f8-0f45-4e1f-967f-d84b96b04653" providerId="ADAL" clId="{9088DCA9-89EF-445B-A2A8-38AB007D75EC}" dt="2026-02-14T01:06:08.328" v="54" actId="20577"/>
        <pc:sldMkLst>
          <pc:docMk/>
          <pc:sldMk cId="0" sldId="325"/>
        </pc:sldMkLst>
        <pc:spChg chg="mod">
          <ac:chgData name="Shehara Rodrigo" userId="5d6276f8-0f45-4e1f-967f-d84b96b04653" providerId="ADAL" clId="{9088DCA9-89EF-445B-A2A8-38AB007D75EC}" dt="2026-02-14T01:06:05.036" v="48" actId="20577"/>
          <ac:spMkLst>
            <pc:docMk/>
            <pc:sldMk cId="0" sldId="325"/>
            <ac:spMk id="73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6:08.328" v="54" actId="20577"/>
          <ac:spMkLst>
            <pc:docMk/>
            <pc:sldMk cId="0" sldId="325"/>
            <ac:spMk id="74" creationId="{00000000-0000-0000-0000-000000000000}"/>
          </ac:spMkLst>
        </pc:spChg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26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27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28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29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0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1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2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3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4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5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6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7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8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39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40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41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42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43"/>
        </pc:sldMkLst>
      </pc:sldChg>
      <pc:sldChg chg="add setBg">
        <pc:chgData name="Shehara Rodrigo" userId="5d6276f8-0f45-4e1f-967f-d84b96b04653" providerId="ADAL" clId="{9088DCA9-89EF-445B-A2A8-38AB007D75EC}" dt="2026-02-14T00:41:04.456" v="8"/>
        <pc:sldMkLst>
          <pc:docMk/>
          <pc:sldMk cId="0" sldId="344"/>
        </pc:sldMkLst>
      </pc:sldChg>
      <pc:sldChg chg="add">
        <pc:chgData name="Shehara Rodrigo" userId="5d6276f8-0f45-4e1f-967f-d84b96b04653" providerId="ADAL" clId="{9088DCA9-89EF-445B-A2A8-38AB007D75EC}" dt="2026-02-14T00:41:04.456" v="8"/>
        <pc:sldMkLst>
          <pc:docMk/>
          <pc:sldMk cId="0" sldId="345"/>
        </pc:sldMkLst>
      </pc:sldChg>
      <pc:sldChg chg="modSp add mod setBg">
        <pc:chgData name="Shehara Rodrigo" userId="5d6276f8-0f45-4e1f-967f-d84b96b04653" providerId="ADAL" clId="{9088DCA9-89EF-445B-A2A8-38AB007D75EC}" dt="2026-02-14T01:06:25.326" v="62" actId="20577"/>
        <pc:sldMkLst>
          <pc:docMk/>
          <pc:sldMk cId="0" sldId="346"/>
        </pc:sldMkLst>
        <pc:spChg chg="mod">
          <ac:chgData name="Shehara Rodrigo" userId="5d6276f8-0f45-4e1f-967f-d84b96b04653" providerId="ADAL" clId="{9088DCA9-89EF-445B-A2A8-38AB007D75EC}" dt="2026-02-14T01:06:21.292" v="56" actId="20577"/>
          <ac:spMkLst>
            <pc:docMk/>
            <pc:sldMk cId="0" sldId="346"/>
            <ac:spMk id="68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6:25.326" v="62" actId="20577"/>
          <ac:spMkLst>
            <pc:docMk/>
            <pc:sldMk cId="0" sldId="346"/>
            <ac:spMk id="69" creationId="{00000000-0000-0000-0000-000000000000}"/>
          </ac:spMkLst>
        </pc:spChg>
      </pc:sldChg>
      <pc:sldChg chg="add">
        <pc:chgData name="Shehara Rodrigo" userId="5d6276f8-0f45-4e1f-967f-d84b96b04653" providerId="ADAL" clId="{9088DCA9-89EF-445B-A2A8-38AB007D75EC}" dt="2026-02-14T00:50:15.667" v="9"/>
        <pc:sldMkLst>
          <pc:docMk/>
          <pc:sldMk cId="0" sldId="347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48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49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0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1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2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3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4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5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6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7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8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59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0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1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2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3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4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5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6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7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8"/>
        </pc:sldMkLst>
      </pc:sldChg>
      <pc:sldChg chg="add setBg">
        <pc:chgData name="Shehara Rodrigo" userId="5d6276f8-0f45-4e1f-967f-d84b96b04653" providerId="ADAL" clId="{9088DCA9-89EF-445B-A2A8-38AB007D75EC}" dt="2026-02-14T00:50:15.667" v="9"/>
        <pc:sldMkLst>
          <pc:docMk/>
          <pc:sldMk cId="0" sldId="369"/>
        </pc:sldMkLst>
      </pc:sldChg>
      <pc:sldChg chg="modSp add mod setBg">
        <pc:chgData name="Shehara Rodrigo" userId="5d6276f8-0f45-4e1f-967f-d84b96b04653" providerId="ADAL" clId="{9088DCA9-89EF-445B-A2A8-38AB007D75EC}" dt="2026-02-14T01:06:40.855" v="72" actId="20577"/>
        <pc:sldMkLst>
          <pc:docMk/>
          <pc:sldMk cId="0" sldId="370"/>
        </pc:sldMkLst>
        <pc:spChg chg="mod">
          <ac:chgData name="Shehara Rodrigo" userId="5d6276f8-0f45-4e1f-967f-d84b96b04653" providerId="ADAL" clId="{9088DCA9-89EF-445B-A2A8-38AB007D75EC}" dt="2026-02-14T01:06:37.891" v="66" actId="20577"/>
          <ac:spMkLst>
            <pc:docMk/>
            <pc:sldMk cId="0" sldId="370"/>
            <ac:spMk id="68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6:40.855" v="72" actId="20577"/>
          <ac:spMkLst>
            <pc:docMk/>
            <pc:sldMk cId="0" sldId="370"/>
            <ac:spMk id="69" creationId="{00000000-0000-0000-0000-000000000000}"/>
          </ac:spMkLst>
        </pc:spChg>
      </pc:sldChg>
      <pc:sldChg chg="add">
        <pc:chgData name="Shehara Rodrigo" userId="5d6276f8-0f45-4e1f-967f-d84b96b04653" providerId="ADAL" clId="{9088DCA9-89EF-445B-A2A8-38AB007D75EC}" dt="2026-02-14T00:52:30.092" v="10"/>
        <pc:sldMkLst>
          <pc:docMk/>
          <pc:sldMk cId="0" sldId="371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2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3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4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5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6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7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8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79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0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1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2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3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4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5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6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7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8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89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90"/>
        </pc:sldMkLst>
      </pc:sldChg>
      <pc:sldChg chg="add setBg">
        <pc:chgData name="Shehara Rodrigo" userId="5d6276f8-0f45-4e1f-967f-d84b96b04653" providerId="ADAL" clId="{9088DCA9-89EF-445B-A2A8-38AB007D75EC}" dt="2026-02-14T00:52:30.092" v="10"/>
        <pc:sldMkLst>
          <pc:docMk/>
          <pc:sldMk cId="0" sldId="391"/>
        </pc:sldMkLst>
      </pc:sldChg>
      <pc:sldChg chg="modSp add mod setBg">
        <pc:chgData name="Shehara Rodrigo" userId="5d6276f8-0f45-4e1f-967f-d84b96b04653" providerId="ADAL" clId="{9088DCA9-89EF-445B-A2A8-38AB007D75EC}" dt="2026-02-14T01:06:57.359" v="80" actId="20577"/>
        <pc:sldMkLst>
          <pc:docMk/>
          <pc:sldMk cId="0" sldId="392"/>
        </pc:sldMkLst>
        <pc:spChg chg="mod">
          <ac:chgData name="Shehara Rodrigo" userId="5d6276f8-0f45-4e1f-967f-d84b96b04653" providerId="ADAL" clId="{9088DCA9-89EF-445B-A2A8-38AB007D75EC}" dt="2026-02-14T01:06:53.825" v="74" actId="20577"/>
          <ac:spMkLst>
            <pc:docMk/>
            <pc:sldMk cId="0" sldId="392"/>
            <ac:spMk id="68" creationId="{00000000-0000-0000-0000-000000000000}"/>
          </ac:spMkLst>
        </pc:spChg>
        <pc:spChg chg="mod">
          <ac:chgData name="Shehara Rodrigo" userId="5d6276f8-0f45-4e1f-967f-d84b96b04653" providerId="ADAL" clId="{9088DCA9-89EF-445B-A2A8-38AB007D75EC}" dt="2026-02-14T01:06:57.359" v="80" actId="20577"/>
          <ac:spMkLst>
            <pc:docMk/>
            <pc:sldMk cId="0" sldId="392"/>
            <ac:spMk id="69" creationId="{00000000-0000-0000-0000-000000000000}"/>
          </ac:spMkLst>
        </pc:spChg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3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4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5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6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7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8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399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0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1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2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3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4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5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6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7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8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09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10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11"/>
        </pc:sldMkLst>
      </pc:sldChg>
      <pc:sldChg chg="add setBg">
        <pc:chgData name="Shehara Rodrigo" userId="5d6276f8-0f45-4e1f-967f-d84b96b04653" providerId="ADAL" clId="{9088DCA9-89EF-445B-A2A8-38AB007D75EC}" dt="2026-02-14T01:02:12.018" v="11"/>
        <pc:sldMkLst>
          <pc:docMk/>
          <pc:sldMk cId="0" sldId="412"/>
        </pc:sldMkLst>
      </pc:sldChg>
      <pc:sldChg chg="add">
        <pc:chgData name="Shehara Rodrigo" userId="5d6276f8-0f45-4e1f-967f-d84b96b04653" providerId="ADAL" clId="{9088DCA9-89EF-445B-A2A8-38AB007D75EC}" dt="2026-02-14T01:02:12.018" v="11"/>
        <pc:sldMkLst>
          <pc:docMk/>
          <pc:sldMk cId="0" sldId="413"/>
        </pc:sldMkLst>
      </pc:sldChg>
      <pc:sldChg chg="add">
        <pc:chgData name="Shehara Rodrigo" userId="5d6276f8-0f45-4e1f-967f-d84b96b04653" providerId="ADAL" clId="{9088DCA9-89EF-445B-A2A8-38AB007D75EC}" dt="2026-02-14T01:02:12.018" v="11"/>
        <pc:sldMkLst>
          <pc:docMk/>
          <pc:sldMk cId="0" sldId="414"/>
        </pc:sldMkLst>
      </pc:sldChg>
      <pc:sldChg chg="add">
        <pc:chgData name="Shehara Rodrigo" userId="5d6276f8-0f45-4e1f-967f-d84b96b04653" providerId="ADAL" clId="{9088DCA9-89EF-445B-A2A8-38AB007D75EC}" dt="2026-02-14T01:02:12.018" v="11"/>
        <pc:sldMkLst>
          <pc:docMk/>
          <pc:sldMk cId="0" sldId="415"/>
        </pc:sldMkLst>
      </pc:sldChg>
      <pc:sldChg chg="add">
        <pc:chgData name="Shehara Rodrigo" userId="5d6276f8-0f45-4e1f-967f-d84b96b04653" providerId="ADAL" clId="{9088DCA9-89EF-445B-A2A8-38AB007D75EC}" dt="2026-02-14T01:02:12.018" v="11"/>
        <pc:sldMkLst>
          <pc:docMk/>
          <pc:sldMk cId="0" sldId="416"/>
        </pc:sldMkLst>
      </pc:sldChg>
      <pc:sldChg chg="add">
        <pc:chgData name="Shehara Rodrigo" userId="5d6276f8-0f45-4e1f-967f-d84b96b04653" providerId="ADAL" clId="{9088DCA9-89EF-445B-A2A8-38AB007D75EC}" dt="2026-02-14T01:02:12.018" v="11"/>
        <pc:sldMkLst>
          <pc:docMk/>
          <pc:sldMk cId="0" sldId="417"/>
        </pc:sldMkLst>
      </pc:sldChg>
      <pc:sldMasterChg chg="delSldLayout">
        <pc:chgData name="Shehara Rodrigo" userId="5d6276f8-0f45-4e1f-967f-d84b96b04653" providerId="ADAL" clId="{9088DCA9-89EF-445B-A2A8-38AB007D75EC}" dt="2026-02-14T00:16:50.005" v="4" actId="47"/>
        <pc:sldMasterMkLst>
          <pc:docMk/>
          <pc:sldMasterMk cId="0" sldId="2147483659"/>
        </pc:sldMasterMkLst>
        <pc:sldLayoutChg chg="del">
          <pc:chgData name="Shehara Rodrigo" userId="5d6276f8-0f45-4e1f-967f-d84b96b04653" providerId="ADAL" clId="{9088DCA9-89EF-445B-A2A8-38AB007D75EC}" dt="2026-02-14T00:16:50.005" v="4" actId="47"/>
          <pc:sldLayoutMkLst>
            <pc:docMk/>
            <pc:sldMasterMk cId="0" sldId="2147483659"/>
            <pc:sldLayoutMk cId="0" sldId="2147483653"/>
          </pc:sldLayoutMkLst>
        </pc:sldLayoutChg>
        <pc:sldLayoutChg chg="del">
          <pc:chgData name="Shehara Rodrigo" userId="5d6276f8-0f45-4e1f-967f-d84b96b04653" providerId="ADAL" clId="{9088DCA9-89EF-445B-A2A8-38AB007D75EC}" dt="2026-02-14T00:15:35.749" v="0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electrician-lego-repair-craftsmen-499799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pu-processor-electronics-computer-447483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d/d3/Amiga_1200_Kickstart_3.0_ROMs.jpg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electrician-lego-repair-craftsmen-499799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dual-screen-programming-coding-1745705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dual-screen-programming-coding-1745705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crewdriver-settings-spanner-system-1294338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crewdriver-settings-spanner-system-1294338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a/a9/John_von_Neumann.jpg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Eniac.jpg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Eniac.jpg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omputer-memory-chips-technology-857098/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eorge_Boole#/media/File:George_Boole_color.jpg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aude_Shannon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tatistic-wordpress-web-data-1820320/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nyc-metro-plan-map-new-york-4328896/" TargetMode="External"/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eople-holding-their-phones-3184435/" TargetMode="External"/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eople-holding-their-phones-3184435/" TargetMode="External"/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lack-children-using-touchpad-of-laptop-on-sofa-6437861/" TargetMode="External"/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laptop-pc-computer-technology-2243898/" TargetMode="External"/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erver-computer-mainframe-146615/" TargetMode="External"/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laptop-pc-computer-technology-2243898/" TargetMode="External"/></Relationships>
</file>

<file path=ppt/notesSlides/_rels/notes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office-business-men-businessmen-1209640/" TargetMode="External"/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a-woman-playing-video-game-7915492/" TargetMode="External"/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watch-wristwatch-time-clock-2649380/" TargetMode="External"/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pixabay.com/vectors/iphone-cellphone-smartphone-mobile-37856/" TargetMode="External"/><Relationship Id="rId4" Type="http://schemas.openxmlformats.org/officeDocument/2006/relationships/hyperlink" Target="https://pixabay.com/vectors/laptop-notebook-computer-black-158648/" TargetMode="External"/></Relationships>
</file>

<file path=ppt/notesSlides/_rels/notes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ipartmax.com/middle/m2i8H7b1K9A0i8H7_open-thin-client-icon/" TargetMode="External"/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lipartmax.com/download/m2i8i8b1b1A0d3G6_server-server-png/" TargetMode="External"/><Relationship Id="rId5" Type="http://schemas.openxmlformats.org/officeDocument/2006/relationships/hyperlink" Target="https://www.clipartmax.com/download/m2H7K9d3K9Z5A0m2_switch-with-border-network-switch-clipart/" TargetMode="External"/><Relationship Id="rId4" Type="http://schemas.openxmlformats.org/officeDocument/2006/relationships/hyperlink" Target="https://www.clipartmax.com/middle/m2i8Z5K9K9H7H7b1_possible-printer-issue-fix-printer-icon/" TargetMode="External"/></Relationships>
</file>

<file path=ppt/notesSlides/_rels/notes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house-plank-garage-auto-keller-2006023/" TargetMode="External"/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united-kingdom-map-great-britain-36481/" TargetMode="External"/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cc.io/curriculum" TargetMode="External"/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www.raspberrypi.org/" TargetMode="External"/></Relationships>
</file>

<file path=ppt/notesSlides/_rels/notes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access-point-internet-wifi-wlan-5002809/" TargetMode="External"/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mobile-phone-communication-157065/" TargetMode="External"/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router-switch-symbol-network-30140/" TargetMode="External"/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loud-thought-weather-153992/" TargetMode="External"/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switch-network-it-distributor-nsa-490026/" TargetMode="External"/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router-networking-switch-internet-29336/" TargetMode="External"/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witch-hub-network-net-lan-35568/" TargetMode="External"/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witch-hub-network-net-lan-35568/" TargetMode="External"/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ard-circuit-electronics-interface-161279/" TargetMode="External"/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ard-circuit-electronics-interface-161279/" TargetMode="External"/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omputer-lan-network-switch-158777/" TargetMode="External"/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omputer-lan-network-switch-158777/" TargetMode="External"/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6527891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86527891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74b0461b64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74b0461b64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7abd89eac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77abd89eac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7583c8c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77583c8c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9ca1d8d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89ca1d8d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65278915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865278915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7abd89eac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77abd89eac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7abd89ea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77abd89ea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77abd89ea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77abd89ea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7abd89ea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77abd89eac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77abd89eac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77abd89eac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https://pixabay.com/photos/electrician-lego-repair-craftsmen-499799/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1d6b4bf2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81d6b4bf2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https://pixabay.com/photos/cpu-processor-electronics-computer-447483/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1d6b4bf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81d6b4bf2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1d6b4bf2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81d6b4bf2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Source image: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https://upload.wikimedia.org/wikipedia/commons/d/d3/Amiga_1200_Kickstart_3.0_ROMs.jpg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1d6b4bf2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81d6b4bf2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9ca1d8d4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89ca1d8d4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9ca1d8d4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89ca1d8d4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9ca1d8d4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89ca1d8d4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 CPU controls everything and it is the first component to start. It first needs to grab the BIOS from ROM.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 BIOS is set by your manufacturer and shouldn’t be edited by a user.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9ca1d8d4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89ca1d8d4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In order for any instructions to be executed, they need to be in RAM.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RAM is directly accessible by the CPU, it is where all instructions are stored before they are executed.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9ca1d8d4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89ca1d8d4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 very first thing your computer does is turn on the input and output devices for your computer.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This is so it can show the user any error messages it needs to while the rest of the start-up sequence is completed.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89ca1d8d4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g89ca1d8d4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Next, the BIOS does some basic checks to make sure your computer is working.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It will check the storage devices, and things like how much RAM there is on the computer. This will be important for the next steps.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89ca1d8d4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89ca1d8d4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The storage on your computer holds all the software your computer needs to run, including the operating system.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Before anything can be loaded into RAM, it first needs to be fetched from secondary storage.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89ca1d8d4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89ca1d8d4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In order for the CPU to run the operating system, it needs to be loaded into RAM.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Not every part of the operating system will be loaded at once, just the parts that it needs for the tasks at hand.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89ca1d8d4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89ca1d8d4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Once the operating system is loaded and ready to go, the BIOS does very little.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At this point, the operation of your computer is handed off to the operating system and you can run other pieces of software.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9ca1d8d47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89ca1d8d47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Source image: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https://pixabay.com/photos/electrician-lego-repair-craftsmen-499799/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77abd89eac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77abd89eac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77abd89ea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77abd89ea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https://pixabay.com/vectors/dual-screen-programming-coding-1745705/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77abd89eac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77abd89eac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https://pixabay.com/vectors/dual-screen-programming-coding-1745705/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77abd89ea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77abd89ea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89ca1d8d47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g89ca1d8d47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89ca1d8d47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89ca1d8d47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c951f64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89c951f64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https://pixabay.com/vectors/screwdriver-settings-spanner-system-1294338/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9c951f6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89c951f6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https://pixabay.com/vectors/screwdriver-settings-spanner-system-1294338/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9c951f649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89c951f649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https://upload.wikimedia.org/wikipedia/commons/a/a9/John_von_Neumann.jpg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9c951f649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89c951f649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https://commons.wikimedia.org/wiki/File:Eniac.jpg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89c951f649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89c951f649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9c951f649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89c951f649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https://commons.wikimedia.org/wiki/File:Eniac.jpg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640c13d1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7640c13d1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8fe19be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88fe19be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8fe19bea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88fe19bea1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8a7e2dd12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8a7e2dd12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88fe19bea1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88fe19bea1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88fe19bea1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g88fe19bea1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88fe19bea1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g88fe19bea1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88fe19bea1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88fe19bea1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88fe19bea1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g88fe19bea1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64b46376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764b46376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639dbae7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8639dbae7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8639dbae7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8639dbae72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639dbae7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8639dbae7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64b46376f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764b46376f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639dbae7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8639dbae7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639dbae7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8639dbae7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639dbae7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8639dbae7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a781c3e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8a781c3e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https://pixabay.com/photos/computer-memory-chips-technology-857098/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62300dc48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62300dc48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2300dc484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2300dc484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This is just for background information for students, they do not need to take notes. Link the True and False to binary from the starter.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https://en.wikipedia.org/wiki/George_Boole#/media/File:George_Boole_color.jpg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89bfd368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89bfd368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This is just for background information for students, they do not need to take notes. Link the True and False to binary from the starter.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https://en.wikipedia.org/wiki/Claude_Shannon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2300dc484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2300dc484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https://pixabay.com/vectors/statistic-wordpress-web-data-1820320/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latin typeface="Quicksand"/>
                <a:ea typeface="Quicksand"/>
                <a:cs typeface="Quicksand"/>
                <a:sym typeface="Quicksand"/>
              </a:rPr>
              <a:t>Suggested activity:</a:t>
            </a: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 Learners to make notes about this theory in their book as you explain that this unit look at the very heart of the computer system: the logic gates that are the building blocks of the CPU.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2300dc484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2300dc484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Learners should make notes here as you talk about the properties of logic gates.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2300dc484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62300dc484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99b67fd4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99b67fd4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Learners should make notes here as you talk about the properties of logic gates.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99b67fd4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99b67fd4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Learners should make notes here as you talk about the properties of logic gates.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99b67fd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99b67fd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Learners should make notes here as you talk about the properties of logic gates.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a5fb86a9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a5fb86a9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99b67fd4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99b67fd4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899b67fd40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899b67fd40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899b67fd40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899b67fd40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62300dc484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62300dc484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899b67fd40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899b67fd40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99b67fd40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99b67fd40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899b67fd40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899b67fd40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99b67fd40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99b67fd40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899b67fd40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899b67fd40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899b67fd40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899b67fd40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7fb4bc370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7fb4bc370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899b67fd40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899b67fd40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ea948baa0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ea948baa0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Last updated 30-11-2021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a6dc722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a6dc722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3a06ecda8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3a06ecda8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https://pixabay.com/photos/nyc-metro-plan-map-new-york-4328896/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d3a06ecda8_0_1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d3a06ecda8_0_1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https://www.pxfuel.com/en/free-photo-ojqgo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d3a06ecda8_0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d3a06ecda8_0_1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https://www.iemoji.com/view/emoji/114/travel-places/school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ca6dc7225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ca6dc7225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d3a06ecda8_0_1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d3a06ecda8_0_1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d3a06ecda8_0_1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d3a06ecda8_0_1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d3a06ecda8_0_1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d3a06ecda8_0_1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d3a06ecda8_0_2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d3a06ecda8_0_2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https://pixabay.com/vectors/laptop-pc-computer-technology-2243898/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d3a06ecda8_0_2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d3a06ecda8_0_2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d3a06ecda8_0_2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d3a06ecda8_0_2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https://pixabay.com/vectors/server-computer-mainframe-146615/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d3a06ecda8_0_2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d3a06ecda8_0_2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d3a06ecda8_0_20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d3a06ecda8_0_20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d85ba2cf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d85ba2cf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d85ba2cff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d85ba2cff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d85ba2cff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d85ba2cff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d85ba2cff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d85ba2cff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d85ba2cff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d85ba2cff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d85ba2cff2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d85ba2cff2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d85ba2cff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d85ba2cff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d85ba2cff2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d85ba2cff2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https://www.pexels.com/photo/people-holding-their-phones-3184435/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d85ba2cff2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d85ba2cff2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https://www.pexels.com/photo/people-holding-their-phones-3184435/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d85ba2cff2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d85ba2cff2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https://www.pexels.com/photo/black-children-using-touchpad-of-laptop-on-sofa-6437861/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ea948baa0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ea948baa0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Last updated 30-11-2021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c7e5f1c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c7e5f1c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</a:t>
            </a:r>
            <a:r>
              <a:rPr lang="en-GB">
                <a:solidFill>
                  <a:srgbClr val="5B5BA5"/>
                </a:solidFill>
              </a:rPr>
              <a:t>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a6dc7225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a6dc7225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</a:t>
            </a:r>
            <a:r>
              <a:rPr lang="en-GB">
                <a:solidFill>
                  <a:srgbClr val="5B5BA5"/>
                </a:solidFill>
              </a:rPr>
              <a:t>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c7e5f1c6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c7e5f1c6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dc7e5f1c6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dc7e5f1c6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dc7e5f1c6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dc7e5f1c6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c7e5f1c6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c7e5f1c6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c7e5f1c6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c7e5f1c6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c7e5f1c6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c7e5f1c65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c7e5f1c6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c7e5f1c65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dc7e5f1c65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dc7e5f1c65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dc7e5f1c65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dc7e5f1c65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https://pixabay.com/vectors/server-computer-mainframe-146615/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100"/>
              <a:buFont typeface="Arial"/>
              <a:buNone/>
            </a:pPr>
            <a:r>
              <a:rPr lang="en-GB">
                <a:solidFill>
                  <a:srgbClr val="5B5BA5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https://pixabay.com/vectors/laptop-pc-computer-technology-2243898/</a:t>
            </a:r>
            <a:r>
              <a:rPr lang="en-GB">
                <a:solidFill>
                  <a:srgbClr val="5B5BA5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c7e5f1c6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c7e5f1c6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https://pixabay.com/photos/office-business-men-businessmen-1209640/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dc7e5f1c65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dc7e5f1c65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https://www.pexels.com/photo/a-woman-playing-video-game-7915492/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dc7e5f1c65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dc7e5f1c65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dc7e5f1c65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dc7e5f1c65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dc7e5f1c65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dc7e5f1c65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Smartwatch image: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https://pixabay.com/vectors/watch-wristwatch-time-clock-2649380/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Laptop image: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https://pixabay.com/vectors/laptop-notebook-computer-black-158648/</a:t>
            </a:r>
            <a:r>
              <a:rPr lang="en-GB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Smartphone image: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https://pixabay.com/vectors/iphone-cellphone-smartphone-mobile-37856/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dc7e5f1c65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dc7e5f1c65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https://www.clipartmax.com/middle/m2i8H7b1K9A0i8H7_open-thin-client-icon/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https://www.clipartmax.com/middle/m2i8Z5K9K9H7H7b1_possible-printer-issue-fix-printer-icon/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https://www.clipartmax.com/download/m2H7K9d3K9Z5A0m2_switch-with-border-network-switch-clipart/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https://www.clipartmax.com/download/m2i8i8b1b1A0d3G6_server-server-png/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c7e5f1c65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c7e5f1c65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https://pixabay.com/illustrations/house-plank-garage-auto-keller-2006023/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c7e5f1c65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c7e5f1c65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Raspberry Pi online course (futurelearn)</a:t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c7e5f1c65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c7e5f1c65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https://pixabay.com/vectors/united-kingdom-map-great-britain-36481/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dc88b31c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dc88b31c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ea948baa0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ea948baa0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Last updated 30-11-2021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- the latest version is available at: </a:t>
            </a:r>
            <a:r>
              <a:rPr lang="en-GB" sz="1000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the-cc.io/curriculum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by the</a:t>
            </a:r>
            <a:r>
              <a:rPr lang="en-GB" sz="1000">
                <a:solidFill>
                  <a:srgbClr val="666666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Foundation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under a Creative Commons Attribution-NonCommercial-ShareAlike 4.0 International license. To view a copy of this license, visit,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creativecommons.org/licenses/by-nc-sa/4.0/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8047ea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8047ea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https://pixabay.com/photos/access-point-internet-wifi-wlan-5002809/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8047ea40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8047ea40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https://pixabay.com/vectors/mobile-phone-communication-157065/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8047ea40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8047ea40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https://pixabay.com/vectors/router-switch-symbol-network-30140/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8047ea40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8047ea40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https://pixabay.com/vectors/cloud-thought-weather-153992/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8047ea40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d8047ea40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https://pixabay.com/photos/switch-network-it-distributor-nsa-490026/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8047ea40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d8047ea40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https://pixabay.com/vectors/router-networking-switch-internet-29336/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d8047ea40f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d8047ea40f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d8047ea40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d8047ea40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d8047ea40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d8047ea40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d8047ea40f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d8047ea40f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8047ea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8047ea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https://pixabay.com/vectors/switch-hub-network-net-lan-35568/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d8047ea40f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d8047ea40f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https://pixabay.com/vectors/switch-hub-network-net-lan-35568/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d8047ea40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d8047ea40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https://pixabay.com/vectors/card-circuit-electronics-interface-161279/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d8047ea40f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d8047ea40f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https://pixabay.com/vectors/card-circuit-electronics-interface-161279/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d8047ea40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d8047ea40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source: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https://pixabay.com/vectors/computer-lan-network-switch-158777/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d804e10d3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d804e10d39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Image source: </a:t>
            </a:r>
            <a:r>
              <a:rPr lang="en-GB" u="sng">
                <a:solidFill>
                  <a:srgbClr val="3197A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https://pixabay.com/vectors/computer-lan-network-switch-158777/</a:t>
            </a:r>
            <a:r>
              <a:rPr lang="en-GB"/>
              <a:t> and the Raspberry Pi graphic from the Futurelearn course</a:t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d804e10d3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d804e10d3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804e10d3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804e10d3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d804e10d3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d804e10d3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d804e10d3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d804e10d3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804e10d3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804e10d3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d804e10d3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d804e10d3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d804e10d3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d804e10d3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d804e10d39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d804e10d39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804e10d39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d804e10d39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3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40000" y="0"/>
            <a:ext cx="19611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55500" y="4491500"/>
            <a:ext cx="1407075" cy="4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/ Questions / Lists">
  <p:cSld name="TITLE_4_1_1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6840000" y="0"/>
            <a:ext cx="19611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and text under (with heading)">
  <p:cSld name="TITLE_4_1_1_2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and text under (no heading)">
  <p:cSld name="TITLE_4_1_1_1_4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(no text under)">
  <p:cSld name="TITLE_4_1_1_1_3_2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0900" y="307424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ubTitle" idx="2"/>
          </p:nvPr>
        </p:nvSpPr>
        <p:spPr>
          <a:xfrm>
            <a:off x="6840000" y="0"/>
            <a:ext cx="19605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2:1">
  <p:cSld name="TITLE_4_1_1_1_3_1_1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55800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6041575" y="1017700"/>
            <a:ext cx="27918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1:2">
  <p:cSld name="TITLE_4_1_1_1_3_1_1_1_1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27900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3253475" y="1017700"/>
            <a:ext cx="55794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1:1:1">
  <p:cSld name="TITLE_4_1_1_1_3_1_1_1_1_1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27000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3253475" y="1017700"/>
            <a:ext cx="27000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4"/>
          </p:nvPr>
        </p:nvSpPr>
        <p:spPr>
          <a:xfrm>
            <a:off x="6149075" y="1017700"/>
            <a:ext cx="27000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">
  <p:cSld name="TITLE_4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 b="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6840000" y="0"/>
            <a:ext cx="19623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side by side">
  <p:cSld name="Text or Images side by s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306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Quicksand"/>
              <a:buNone/>
              <a:defRPr sz="2800" b="1">
                <a:solidFill>
                  <a:schemeClr val="accent6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algn="ctr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3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3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5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0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0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0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0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600" dirty="0"/>
              <a:t>Lesson: Computer systems and system software</a:t>
            </a:r>
            <a:endParaRPr sz="4600"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dirty="0"/>
              <a:t>Computer systems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Starter activity</a:t>
            </a: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What makes a computer?</a:t>
            </a: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characteristics does a device need to have to be considered a computer?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Discuss with the person next to you.</a:t>
            </a: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93502"/>
            <a:ext cx="4096501" cy="327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6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Starter activity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What makes a computer?</a:t>
            </a:r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2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devices are computers? </a:t>
            </a:r>
            <a:r>
              <a:rPr lang="en-GB" b="1"/>
              <a:t>Do they have the characteristics you discussed?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Mobile phone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Video game console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A tablet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Calculator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Smart watch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Laser pointer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Coffee machine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93502"/>
            <a:ext cx="4096501" cy="327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6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Starter activity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What is a computer?</a:t>
            </a:r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2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/>
              <a:t>A programmable device that takes in data, processes it into useful information, and then outputs the information so it can be used. </a:t>
            </a:r>
            <a:endParaRPr i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is often described in the computing cycle you can see on the right.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6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6"/>
          <p:cNvGrpSpPr/>
          <p:nvPr/>
        </p:nvGrpSpPr>
        <p:grpSpPr>
          <a:xfrm>
            <a:off x="4584375" y="1200450"/>
            <a:ext cx="4277100" cy="2742600"/>
            <a:chOff x="4584375" y="1124250"/>
            <a:chExt cx="4277100" cy="2742600"/>
          </a:xfrm>
        </p:grpSpPr>
        <p:sp>
          <p:nvSpPr>
            <p:cNvPr id="102" name="Google Shape;102;p16"/>
            <p:cNvSpPr/>
            <p:nvPr/>
          </p:nvSpPr>
          <p:spPr>
            <a:xfrm>
              <a:off x="4584375" y="1124250"/>
              <a:ext cx="4277100" cy="2742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5048100" y="1346075"/>
              <a:ext cx="830700" cy="400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Input</a:t>
              </a:r>
              <a:endParaRPr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6457000" y="1346075"/>
              <a:ext cx="894600" cy="400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Process</a:t>
              </a:r>
              <a:endParaRPr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8006000" y="1346075"/>
              <a:ext cx="830700" cy="400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Output</a:t>
              </a:r>
              <a:endParaRPr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6457000" y="2535000"/>
              <a:ext cx="894600" cy="400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Storage</a:t>
              </a:r>
              <a:endParaRPr b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cxnSp>
          <p:nvCxnSpPr>
            <p:cNvPr id="107" name="Google Shape;107;p16"/>
            <p:cNvCxnSpPr>
              <a:stCxn id="103" idx="3"/>
              <a:endCxn id="104" idx="1"/>
            </p:cNvCxnSpPr>
            <p:nvPr/>
          </p:nvCxnSpPr>
          <p:spPr>
            <a:xfrm>
              <a:off x="5878800" y="1546175"/>
              <a:ext cx="5781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108" name="Google Shape;108;p16"/>
            <p:cNvCxnSpPr>
              <a:stCxn id="104" idx="3"/>
              <a:endCxn id="105" idx="1"/>
            </p:cNvCxnSpPr>
            <p:nvPr/>
          </p:nvCxnSpPr>
          <p:spPr>
            <a:xfrm>
              <a:off x="7351600" y="1546175"/>
              <a:ext cx="6543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109" name="Google Shape;109;p16"/>
            <p:cNvCxnSpPr/>
            <p:nvPr/>
          </p:nvCxnSpPr>
          <p:spPr>
            <a:xfrm>
              <a:off x="7100800" y="1855188"/>
              <a:ext cx="7500" cy="594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110" name="Google Shape;110;p16"/>
            <p:cNvCxnSpPr/>
            <p:nvPr/>
          </p:nvCxnSpPr>
          <p:spPr>
            <a:xfrm rot="10800000">
              <a:off x="6722925" y="1844838"/>
              <a:ext cx="0" cy="591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111" name="Google Shape;111;p16"/>
            <p:cNvSpPr/>
            <p:nvPr/>
          </p:nvSpPr>
          <p:spPr>
            <a:xfrm>
              <a:off x="5440475" y="1778500"/>
              <a:ext cx="3004175" cy="1729675"/>
            </a:xfrm>
            <a:custGeom>
              <a:avLst/>
              <a:gdLst/>
              <a:ahLst/>
              <a:cxnLst/>
              <a:rect l="l" t="t" r="r" b="b"/>
              <a:pathLst>
                <a:path w="120167" h="69187" extrusionOk="0">
                  <a:moveTo>
                    <a:pt x="120167" y="0"/>
                  </a:moveTo>
                  <a:lnTo>
                    <a:pt x="120167" y="69187"/>
                  </a:lnTo>
                  <a:lnTo>
                    <a:pt x="0" y="69187"/>
                  </a:lnTo>
                  <a:lnTo>
                    <a:pt x="0" y="1366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NZ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Both a mobile phone and a coffee maker are computers, but they are very different devices.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Computer systems can be categorised as either: 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General purpose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Embedded systems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How would you categorise the mobile phone and coffee maker?</a:t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93502"/>
            <a:ext cx="4096501" cy="3277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Mobile phone: </a:t>
            </a:r>
            <a:r>
              <a:rPr lang="en-GB" b="1"/>
              <a:t>General purpose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Coffee maker: </a:t>
            </a:r>
            <a:r>
              <a:rPr lang="en-GB" b="1"/>
              <a:t>Embedded system</a:t>
            </a:r>
            <a:endParaRPr b="1"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93502"/>
            <a:ext cx="4096501" cy="3277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General purpose computers</a:t>
            </a:r>
            <a:r>
              <a:rPr lang="en-GB"/>
              <a:t> are devices that have a variety of uses, the user chooses the task for the computer to complete.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b="1"/>
              <a:t>Embedded systems</a:t>
            </a:r>
            <a:r>
              <a:rPr lang="en-GB"/>
              <a:t> are more specialised, they can only do a limited number of things, but they do them very well. </a:t>
            </a:r>
            <a:endParaRPr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93502"/>
            <a:ext cx="4096501" cy="327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0400" y="463850"/>
            <a:ext cx="4095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1225" y="482913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125" y="367975"/>
            <a:ext cx="5639950" cy="47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33312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Inside this room there are lots of computers. Some of them are general purpose and others are embedded systems.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On your own, sort them into two lists. 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Embedded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General purpose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6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125" y="367975"/>
            <a:ext cx="5639950" cy="47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2"/>
          </p:nvPr>
        </p:nvSpPr>
        <p:spPr>
          <a:xfrm>
            <a:off x="310900" y="865325"/>
            <a:ext cx="33492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General purpose: 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Used for many different types of tasks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Lots of resources — memory, storage, CPU cores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Most tasks require a user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Embedded systems: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6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125" y="367975"/>
            <a:ext cx="5639950" cy="47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Embedded systems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5712050" y="1705625"/>
            <a:ext cx="781800" cy="8796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2"/>
          </p:nvPr>
        </p:nvSpPr>
        <p:spPr>
          <a:xfrm>
            <a:off x="310900" y="161682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Coffee machine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7081475" y="3713275"/>
            <a:ext cx="781800" cy="3552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3"/>
          <p:cNvSpPr/>
          <p:nvPr/>
        </p:nvSpPr>
        <p:spPr>
          <a:xfrm>
            <a:off x="3837650" y="2709450"/>
            <a:ext cx="390900" cy="4038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2"/>
          </p:nvPr>
        </p:nvSpPr>
        <p:spPr>
          <a:xfrm>
            <a:off x="310900" y="206352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Vacuum robot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body" idx="2"/>
          </p:nvPr>
        </p:nvSpPr>
        <p:spPr>
          <a:xfrm>
            <a:off x="310900" y="251022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Thermostat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body" idx="2"/>
          </p:nvPr>
        </p:nvSpPr>
        <p:spPr>
          <a:xfrm>
            <a:off x="310900" y="291447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Security system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8545800" y="2101925"/>
            <a:ext cx="435300" cy="4467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4335100" y="3077675"/>
            <a:ext cx="435300" cy="493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body" idx="2"/>
          </p:nvPr>
        </p:nvSpPr>
        <p:spPr>
          <a:xfrm>
            <a:off x="310900" y="336117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Bluetooth speaker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2"/>
          </p:nvPr>
        </p:nvSpPr>
        <p:spPr>
          <a:xfrm>
            <a:off x="310900" y="3713275"/>
            <a:ext cx="33492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…?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83" name="Google Shape;18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1225" y="482913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Spot the embedded systems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body" idx="2"/>
          </p:nvPr>
        </p:nvSpPr>
        <p:spPr>
          <a:xfrm>
            <a:off x="310900" y="9415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General purpose: 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Used for many different types of tasks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Lots of resources — memory, storage, CPU cores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Most uses require a user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Embedded systems: 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Specialised to a specific task/set of tasks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Limited resources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Often function without a user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93502"/>
            <a:ext cx="4096501" cy="327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0400" y="463850"/>
            <a:ext cx="4095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1225" y="482913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Computers work due to a combination of: 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Hardware components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Software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You are going to examine how they work by looking at </a:t>
            </a:r>
            <a:r>
              <a:rPr lang="en-GB" b="1"/>
              <a:t>what happens when you press the power button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First, you need to learn about some important components.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The CPU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 i="1"/>
              <a:t>central processing unit</a:t>
            </a:r>
            <a:r>
              <a:rPr lang="en-GB"/>
              <a:t>, is a large chip inside the computer.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It is the brains of the computer: it controls everything.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70100"/>
            <a:ext cx="4096500" cy="2876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RAM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Random access memory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RAM is both readable and writable. You can add, change, and delete data stored in RAM.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It is volatile. When the computer is switched off, all the data stored in RAM is lost.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It is fast to read/write.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25"/>
            <a:ext cx="4096501" cy="29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ROM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Read-only memory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ROM is read-only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ROM is non-volatile memory, which means it does not need power to keep the data inside 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It is also fast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  <p:pic>
        <p:nvPicPr>
          <p:cNvPr id="234" name="Google Shape;2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00"/>
            <a:ext cx="4096499" cy="307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Hard drive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hard drive, which contains multiple hard disks, is the main storage device in your computer.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If you have files and folders on your computer, they are stored on the hard drive. The operating system is also stored on the hard drive.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  <p:pic>
        <p:nvPicPr>
          <p:cNvPr id="242" name="Google Shape;2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42075"/>
            <a:ext cx="4096500" cy="285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BIOS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Contains all the basic code for controlling your computer hardware (such as keyboards, mice, monitors, and hard drives).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When you start up your computer, you may see a black screen displaying ‘Press F2 for Setup’. This is the BIOS.</a:t>
            </a:r>
            <a:endParaRPr/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worksheet has the steps your computer goes through when you press the power button.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There is space for you to number the steps to put them in the right order.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You can do this with a partner, we will go through the steps after this. </a:t>
            </a:r>
            <a:endParaRPr/>
          </a:p>
        </p:txBody>
      </p:sp>
      <p:pic>
        <p:nvPicPr>
          <p:cNvPr id="258" name="Google Shape;2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The boot sequence begins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CPU starts up and fetches the BIOS from ROM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66" name="Google Shape;2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72" name="Google Shape;272;p3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sp>
        <p:nvSpPr>
          <p:cNvPr id="273" name="Google Shape;273;p34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-GB" b="1"/>
              <a:t>Instructions from BIOS are loaded into RAM</a:t>
            </a:r>
            <a:endParaRPr/>
          </a:p>
        </p:txBody>
      </p:sp>
      <p:pic>
        <p:nvPicPr>
          <p:cNvPr id="274" name="Google Shape;2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-GB" b="1"/>
              <a:t>BIOS starts up the monitor and keyboard</a:t>
            </a:r>
            <a:endParaRPr/>
          </a:p>
        </p:txBody>
      </p:sp>
      <p:sp>
        <p:nvSpPr>
          <p:cNvPr id="280" name="Google Shape;280;p3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81" name="Google Shape;281;p3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pic>
        <p:nvPicPr>
          <p:cNvPr id="282" name="Google Shape;2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 b="1"/>
              <a:t>BIOS checks your computer is working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pic>
        <p:nvPicPr>
          <p:cNvPr id="290" name="Google Shape;2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 startAt="6"/>
            </a:pPr>
            <a:r>
              <a:rPr lang="en-GB" b="1"/>
              <a:t>Operating system is fetched from secondary storage</a:t>
            </a:r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 startAt="7"/>
            </a:pPr>
            <a:r>
              <a:rPr lang="en-GB" b="1"/>
              <a:t>Operating system is loaded into RAM</a:t>
            </a:r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pic>
        <p:nvPicPr>
          <p:cNvPr id="306" name="Google Shape;30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 startAt="8"/>
            </a:pPr>
            <a:r>
              <a:rPr lang="en-GB" b="1"/>
              <a:t>The BIOS hands over control to the operating system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3</a:t>
            </a:r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start-up sequence</a:t>
            </a:r>
            <a:endParaRPr/>
          </a:p>
        </p:txBody>
      </p:sp>
      <p:pic>
        <p:nvPicPr>
          <p:cNvPr id="314" name="Google Shape;3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4</a:t>
            </a:r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Operating systems and system software</a:t>
            </a:r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Most computer systems require more than just a program to run.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Another layer of software is required called </a:t>
            </a:r>
            <a:r>
              <a:rPr lang="en-GB" b="1"/>
              <a:t>system software. 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There are two main types of system software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Operating systems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Utility software</a:t>
            </a:r>
            <a:endParaRPr/>
          </a:p>
        </p:txBody>
      </p:sp>
      <p:pic>
        <p:nvPicPr>
          <p:cNvPr id="322" name="Google Shape;3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50" y="1170134"/>
            <a:ext cx="4085599" cy="272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/>
          <p:nvPr/>
        </p:nvSpPr>
        <p:spPr>
          <a:xfrm>
            <a:off x="1401400" y="1027675"/>
            <a:ext cx="6671400" cy="38016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1"/>
          <p:cNvSpPr/>
          <p:nvPr/>
        </p:nvSpPr>
        <p:spPr>
          <a:xfrm>
            <a:off x="2175576" y="1910000"/>
            <a:ext cx="5123100" cy="2919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4</a:t>
            </a:r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Operating systems and system software</a:t>
            </a:r>
            <a:endParaRPr/>
          </a:p>
        </p:txBody>
      </p:sp>
      <p:sp>
        <p:nvSpPr>
          <p:cNvPr id="331" name="Google Shape;331;p41"/>
          <p:cNvSpPr/>
          <p:nvPr/>
        </p:nvSpPr>
        <p:spPr>
          <a:xfrm>
            <a:off x="3104526" y="2968376"/>
            <a:ext cx="3265200" cy="1860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1"/>
          <p:cNvSpPr txBox="1"/>
          <p:nvPr/>
        </p:nvSpPr>
        <p:spPr>
          <a:xfrm>
            <a:off x="3684425" y="1017600"/>
            <a:ext cx="21054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Quicksand"/>
                <a:ea typeface="Quicksand"/>
                <a:cs typeface="Quicksand"/>
                <a:sym typeface="Quicksand"/>
              </a:rPr>
              <a:t>Software</a:t>
            </a:r>
            <a:endParaRPr sz="18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3" name="Google Shape;333;p41"/>
          <p:cNvSpPr txBox="1"/>
          <p:nvPr/>
        </p:nvSpPr>
        <p:spPr>
          <a:xfrm>
            <a:off x="3684425" y="1909988"/>
            <a:ext cx="21054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Quicksand"/>
                <a:ea typeface="Quicksand"/>
                <a:cs typeface="Quicksand"/>
                <a:sym typeface="Quicksand"/>
              </a:rPr>
              <a:t>System software</a:t>
            </a:r>
            <a:endParaRPr sz="18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4" name="Google Shape;334;p41"/>
          <p:cNvSpPr txBox="1"/>
          <p:nvPr/>
        </p:nvSpPr>
        <p:spPr>
          <a:xfrm>
            <a:off x="3684400" y="3026625"/>
            <a:ext cx="21054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Quicksand"/>
                <a:ea typeface="Quicksand"/>
                <a:cs typeface="Quicksand"/>
                <a:sym typeface="Quicksand"/>
              </a:rPr>
              <a:t>Hardware</a:t>
            </a:r>
            <a:endParaRPr sz="18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 rot="-1942981">
            <a:off x="1388675" y="2323041"/>
            <a:ext cx="1510148" cy="390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Text editors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6" name="Google Shape;336;p41"/>
          <p:cNvSpPr txBox="1"/>
          <p:nvPr/>
        </p:nvSpPr>
        <p:spPr>
          <a:xfrm rot="-1346429">
            <a:off x="2287838" y="1481157"/>
            <a:ext cx="1673201" cy="390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Video players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7" name="Google Shape;337;p41"/>
          <p:cNvSpPr txBox="1"/>
          <p:nvPr/>
        </p:nvSpPr>
        <p:spPr>
          <a:xfrm rot="616">
            <a:off x="3829550" y="1441592"/>
            <a:ext cx="16731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Browsers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8" name="Google Shape;338;p41"/>
          <p:cNvSpPr txBox="1"/>
          <p:nvPr/>
        </p:nvSpPr>
        <p:spPr>
          <a:xfrm rot="1557512">
            <a:off x="5429880" y="1316306"/>
            <a:ext cx="1672986" cy="39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IDEs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 rot="2005159">
            <a:off x="6371032" y="2090516"/>
            <a:ext cx="1672773" cy="39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Video games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 rot="-2559184">
            <a:off x="1918480" y="2853823"/>
            <a:ext cx="1673216" cy="69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Operating systems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 rot="2017301">
            <a:off x="5771202" y="2980421"/>
            <a:ext cx="1673088" cy="438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BIOS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2" name="Google Shape;342;p41"/>
          <p:cNvSpPr txBox="1"/>
          <p:nvPr/>
        </p:nvSpPr>
        <p:spPr>
          <a:xfrm rot="3082">
            <a:off x="3148952" y="2353025"/>
            <a:ext cx="1673101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Encryption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3" name="Google Shape;343;p41"/>
          <p:cNvSpPr txBox="1"/>
          <p:nvPr/>
        </p:nvSpPr>
        <p:spPr>
          <a:xfrm rot="859">
            <a:off x="3536500" y="3612450"/>
            <a:ext cx="12006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CPU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4" name="Google Shape;344;p41"/>
          <p:cNvSpPr txBox="1"/>
          <p:nvPr/>
        </p:nvSpPr>
        <p:spPr>
          <a:xfrm rot="859">
            <a:off x="4760653" y="4008285"/>
            <a:ext cx="12006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Memory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 rot="859">
            <a:off x="3567822" y="4008137"/>
            <a:ext cx="1200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Storage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 rot="1468">
            <a:off x="4737089" y="3612439"/>
            <a:ext cx="14052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Peripherals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 rot="3082">
            <a:off x="4737102" y="2320762"/>
            <a:ext cx="1673101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Interpreters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4</a:t>
            </a:r>
            <a:endParaRPr/>
          </a:p>
        </p:txBody>
      </p:sp>
      <p:sp>
        <p:nvSpPr>
          <p:cNvPr id="353" name="Google Shape;353;p4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Operating systems and system software</a:t>
            </a:r>
            <a:endParaRPr/>
          </a:p>
        </p:txBody>
      </p:sp>
      <p:sp>
        <p:nvSpPr>
          <p:cNvPr id="354" name="Google Shape;354;p42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Operating systems are pieces of software that regulate interactions between software and hardware.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There are lots of different operating systems. The most popular are: 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Windows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macOS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Linux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Android</a:t>
            </a:r>
            <a:endParaRPr/>
          </a:p>
        </p:txBody>
      </p:sp>
      <p:pic>
        <p:nvPicPr>
          <p:cNvPr id="355" name="Google Shape;3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70125"/>
            <a:ext cx="4085599" cy="2719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4</a:t>
            </a:r>
            <a:endParaRPr/>
          </a:p>
        </p:txBody>
      </p:sp>
      <p:sp>
        <p:nvSpPr>
          <p:cNvPr id="361" name="Google Shape;361;p4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Operating systems</a:t>
            </a:r>
            <a:endParaRPr/>
          </a:p>
        </p:txBody>
      </p:sp>
      <p:sp>
        <p:nvSpPr>
          <p:cNvPr id="362" name="Google Shape;362;p43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Roles of the operating system: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Error handling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Program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Memory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Interaction with the user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Processor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Input and output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Security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File management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63" name="Google Shape;3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70125"/>
            <a:ext cx="4085599" cy="2719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roles of an operating system</a:t>
            </a:r>
            <a:endParaRPr/>
          </a:p>
        </p:txBody>
      </p:sp>
      <p:graphicFrame>
        <p:nvGraphicFramePr>
          <p:cNvPr id="370" name="Google Shape;370;p44"/>
          <p:cNvGraphicFramePr/>
          <p:nvPr/>
        </p:nvGraphicFramePr>
        <p:xfrm>
          <a:off x="311150" y="1405200"/>
          <a:ext cx="8521200" cy="3338250"/>
        </p:xfrm>
        <a:graphic>
          <a:graphicData uri="http://schemas.openxmlformats.org/drawingml/2006/table">
            <a:tbl>
              <a:tblPr>
                <a:noFill/>
                <a:tableStyleId>{14D62C2C-E14B-4527-ADFF-AFE42EB808C8}</a:tableStyleId>
              </a:tblPr>
              <a:tblGrid>
                <a:gridCol w="274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Error handling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When a program fails or encounters a problem, the operating system protects the wider system from crashing.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Program management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Often our computers are running multiple processes at once. The operating system makes sure that each application has enough resources to accomplish its tasks.</a:t>
                      </a:r>
                      <a:endParaRPr sz="1600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Memory management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operating system controls where each piece of data is stored in RAM.</a:t>
                      </a:r>
                      <a:endParaRPr sz="1600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roles of an operating system</a:t>
            </a:r>
            <a:endParaRPr/>
          </a:p>
        </p:txBody>
      </p:sp>
      <p:graphicFrame>
        <p:nvGraphicFramePr>
          <p:cNvPr id="377" name="Google Shape;377;p45"/>
          <p:cNvGraphicFramePr/>
          <p:nvPr/>
        </p:nvGraphicFramePr>
        <p:xfrm>
          <a:off x="311150" y="1405200"/>
          <a:ext cx="8521200" cy="3338250"/>
        </p:xfrm>
        <a:graphic>
          <a:graphicData uri="http://schemas.openxmlformats.org/drawingml/2006/table">
            <a:tbl>
              <a:tblPr>
                <a:noFill/>
                <a:tableStyleId>{14D62C2C-E14B-4527-ADFF-AFE42EB808C8}</a:tableStyleId>
              </a:tblPr>
              <a:tblGrid>
                <a:gridCol w="274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Interaction with the user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operating system provides a graphical user interface which makes operating the computer much simpler.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Processor management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Instructions are executed by the CPU, but the operating system controls which instructions are fed in to be executed.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Input and output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operating system captures data from peripherals and provides data to the output devices to display to the user.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Plenary</a:t>
            </a:r>
            <a:endParaRPr/>
          </a:p>
        </p:txBody>
      </p:sp>
      <p:graphicFrame>
        <p:nvGraphicFramePr>
          <p:cNvPr id="383" name="Google Shape;383;p46"/>
          <p:cNvGraphicFramePr/>
          <p:nvPr/>
        </p:nvGraphicFramePr>
        <p:xfrm>
          <a:off x="311150" y="1405200"/>
          <a:ext cx="8521200" cy="2225500"/>
        </p:xfrm>
        <a:graphic>
          <a:graphicData uri="http://schemas.openxmlformats.org/drawingml/2006/table">
            <a:tbl>
              <a:tblPr>
                <a:noFill/>
                <a:tableStyleId>{14D62C2C-E14B-4527-ADFF-AFE42EB808C8}</a:tableStyleId>
              </a:tblPr>
              <a:tblGrid>
                <a:gridCol w="274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Security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operating system stops unauthorised individuals from accessing data on secondary storage or the data in memory.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File management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When you save data to your hard drive, the operating system will find an available section of storage and send the data to be written to that location.</a:t>
                      </a:r>
                      <a:endParaRPr sz="1600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4" name="Google Shape;384;p4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roles of an operating system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Lesson: The CPU</a:t>
            </a:r>
            <a:endParaRPr dirty="0"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dirty="0"/>
              <a:t>Computer systems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Utility software</a:t>
            </a:r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Utility software provides some enhanced functionality for a computer system.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They can be chosen and installed by the user, and aren’t necessary for a computer to function. They add to the performance of the computer. 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602" y="1170100"/>
            <a:ext cx="2784500" cy="271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Compression software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Encryption software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An email application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Defragmentation software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Antivirus software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Backup tools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Write a short paragraph explaining it to your classmates.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Utility software</a:t>
            </a:r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602" y="1170100"/>
            <a:ext cx="2784500" cy="271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Von Neumann architecture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Computer architecture</a:t>
            </a:r>
            <a:r>
              <a:rPr lang="en-GB"/>
              <a:t> is a term used to describe the design of a computer system.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Modern computers use the </a:t>
            </a:r>
            <a:r>
              <a:rPr lang="en-GB" b="1"/>
              <a:t>von Neumann architecture</a:t>
            </a:r>
            <a:r>
              <a:rPr lang="en-GB"/>
              <a:t> designed by John von Neumann.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Von Neumann was a mathematician whose research has had a huge impact on a number of fields.  </a:t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850" y="1170125"/>
            <a:ext cx="2424800" cy="27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Von Neumann architecture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Before von Neumann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 the beginning, computers were nowhere near as efficient or small as they are now</a:t>
            </a:r>
            <a:r>
              <a:rPr lang="en-GB" b="1"/>
              <a:t>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instructions they ran were hard-wired, physical switches that your data went through. This meant changing one thing in your program could take months to check.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70125"/>
            <a:ext cx="4085600" cy="3121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Von Neumann architecture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The stored program concept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Von Neumann proposed a new way to store and run programs on a computer.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His idea was to store common instructions in memory alongside the data, making computers much more versatile. This architecture has been widely adopted today.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00"/>
            <a:ext cx="4096501" cy="29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Von Neumann architecture</a:t>
            </a:r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and instructions are stored as binary digits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instructions are </a:t>
            </a:r>
            <a:r>
              <a:rPr lang="en-GB" b="1"/>
              <a:t>fetched</a:t>
            </a:r>
            <a:r>
              <a:rPr lang="en-GB"/>
              <a:t> from memory, one at a time </a:t>
            </a:r>
            <a:r>
              <a:rPr lang="en-GB" b="1"/>
              <a:t>in order (serially)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processor </a:t>
            </a:r>
            <a:r>
              <a:rPr lang="en-GB" b="1"/>
              <a:t>decodes </a:t>
            </a:r>
            <a:r>
              <a:rPr lang="en-GB"/>
              <a:t>instruction before it </a:t>
            </a:r>
            <a:r>
              <a:rPr lang="en-GB" b="1"/>
              <a:t>executes</a:t>
            </a:r>
            <a:r>
              <a:rPr lang="en-GB"/>
              <a:t> it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 order to follow this system, modern CPUs contain several key components that all play a role.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170125"/>
            <a:ext cx="4085600" cy="3121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Von Neumann architecture</a:t>
            </a:r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ldNum" idx="12"/>
          </p:nvPr>
        </p:nvSpPr>
        <p:spPr>
          <a:xfrm>
            <a:off x="8715275" y="4829300"/>
            <a:ext cx="428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3416850" y="1448650"/>
            <a:ext cx="2088600" cy="2797200"/>
          </a:xfrm>
          <a:prstGeom prst="rect">
            <a:avLst/>
          </a:prstGeom>
          <a:solidFill>
            <a:srgbClr val="1C25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1595025" y="2566000"/>
            <a:ext cx="1352700" cy="314100"/>
          </a:xfrm>
          <a:prstGeom prst="rect">
            <a:avLst/>
          </a:prstGeom>
          <a:solidFill>
            <a:srgbClr val="1C25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Input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6090400" y="2566000"/>
            <a:ext cx="1352700" cy="314100"/>
          </a:xfrm>
          <a:prstGeom prst="rect">
            <a:avLst/>
          </a:prstGeom>
          <a:solidFill>
            <a:srgbClr val="1C25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Output</a:t>
            </a:r>
            <a:endParaRPr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3030425" y="2667200"/>
            <a:ext cx="311700" cy="174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5642075" y="2635600"/>
            <a:ext cx="311700" cy="174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3536475" y="1599875"/>
            <a:ext cx="1849500" cy="96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The CPU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3536475" y="3169275"/>
            <a:ext cx="1849500" cy="96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Main Memory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4843050" y="2639600"/>
            <a:ext cx="211800" cy="467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3932150" y="2634025"/>
            <a:ext cx="211800" cy="4671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4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175" name="Google Shape;175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4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" name="Google Shape;177;p24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178" name="Google Shape;178;p24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24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0" name="Google Shape;180;p24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24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182" name="Google Shape;182;p24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24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" name="Google Shape;184;p24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185" name="Google Shape;185;p24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24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7" name="Google Shape;187;p24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188" name="Google Shape;188;p24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9" name="Google Shape;189;p24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24"/>
              <p:cNvCxnSpPr>
                <a:endCxn id="188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24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2" name="Google Shape;192;p24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193" name="Google Shape;193;p24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24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5" name="Google Shape;195;p24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8732975" y="4829300"/>
            <a:ext cx="41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CPU stands for </a:t>
            </a:r>
            <a:r>
              <a:rPr lang="en-GB" b="1"/>
              <a:t>central processing unit.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Inside of the CPU, there are a number of key components: 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Control unit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Arithmetic logic unit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Buses 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Registers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Clock</a:t>
            </a:r>
            <a:endParaRPr b="1"/>
          </a:p>
        </p:txBody>
      </p:sp>
      <p:sp>
        <p:nvSpPr>
          <p:cNvPr id="201" name="Google Shape;201;p24"/>
          <p:cNvSpPr txBox="1"/>
          <p:nvPr/>
        </p:nvSpPr>
        <p:spPr>
          <a:xfrm>
            <a:off x="5382775" y="2331925"/>
            <a:ext cx="602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ALU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6298975" y="27108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Control Unit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7345250" y="17750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Clock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6273200" y="3841500"/>
            <a:ext cx="1023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Registers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05" name="Google Shape;205;p24"/>
          <p:cNvCxnSpPr>
            <a:stCxn id="204" idx="2"/>
          </p:cNvCxnSpPr>
          <p:nvPr/>
        </p:nvCxnSpPr>
        <p:spPr>
          <a:xfrm rot="10800000">
            <a:off x="6784850" y="4133700"/>
            <a:ext cx="0" cy="86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4"/>
          <p:cNvSpPr txBox="1"/>
          <p:nvPr/>
        </p:nvSpPr>
        <p:spPr>
          <a:xfrm>
            <a:off x="7409525" y="27942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6765800" y="2191750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5890850" y="15014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091175" y="389437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sldNum" idx="12"/>
          </p:nvPr>
        </p:nvSpPr>
        <p:spPr>
          <a:xfrm>
            <a:off x="8732975" y="4829300"/>
            <a:ext cx="41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Control unit</a:t>
            </a:r>
            <a:r>
              <a:rPr lang="en-GB"/>
              <a:t>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control unit is organised, efficient, and collaborative.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What does it control, manage, or store?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It manages the instructions, and controls the other components.</a:t>
            </a:r>
            <a:endParaRPr/>
          </a:p>
        </p:txBody>
      </p:sp>
      <p:grpSp>
        <p:nvGrpSpPr>
          <p:cNvPr id="296" name="Google Shape;296;p28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297" name="Google Shape;29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28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" name="Google Shape;299;p28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300" name="Google Shape;300;p28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" name="Google Shape;301;p28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02" name="Google Shape;302;p28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3" name="Google Shape;303;p28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304" name="Google Shape;304;p28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" name="Google Shape;305;p28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6" name="Google Shape;306;p28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307" name="Google Shape;307;p28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28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9" name="Google Shape;309;p28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310" name="Google Shape;310;p28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1" name="Google Shape;311;p28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312;p28"/>
              <p:cNvCxnSpPr>
                <a:endCxn id="310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13;p28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4" name="Google Shape;314;p28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315" name="Google Shape;315;p28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28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17" name="Google Shape;317;p28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28"/>
          <p:cNvSpPr txBox="1"/>
          <p:nvPr/>
        </p:nvSpPr>
        <p:spPr>
          <a:xfrm>
            <a:off x="6298975" y="27108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Control Unit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 txBox="1">
            <a:spLocks noGrp="1"/>
          </p:cNvSpPr>
          <p:nvPr>
            <p:ph type="sldNum" idx="12"/>
          </p:nvPr>
        </p:nvSpPr>
        <p:spPr>
          <a:xfrm>
            <a:off x="8732975" y="4829300"/>
            <a:ext cx="41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Arithmetic logic unit (ALU)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ALU is logical, good with numbers and precise.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What does it manage, control, or store?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It manages calculations and logic.</a:t>
            </a:r>
            <a:endParaRPr/>
          </a:p>
        </p:txBody>
      </p:sp>
      <p:grpSp>
        <p:nvGrpSpPr>
          <p:cNvPr id="394" name="Google Shape;394;p31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395" name="Google Shape;39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31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7" name="Google Shape;397;p31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398" name="Google Shape;398;p31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31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00" name="Google Shape;400;p31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" name="Google Shape;401;p31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402" name="Google Shape;402;p31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3" name="Google Shape;403;p31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4" name="Google Shape;404;p31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405" name="Google Shape;405;p31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31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7" name="Google Shape;407;p31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408" name="Google Shape;408;p31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09" name="Google Shape;409;p31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0" name="Google Shape;410;p31"/>
              <p:cNvCxnSpPr>
                <a:endCxn id="408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31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12" name="Google Shape;412;p31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413" name="Google Shape;413;p31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31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15" name="Google Shape;415;p31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7" name="Google Shape;417;p31"/>
          <p:cNvSpPr txBox="1"/>
          <p:nvPr/>
        </p:nvSpPr>
        <p:spPr>
          <a:xfrm>
            <a:off x="5382775" y="2331925"/>
            <a:ext cx="602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ALU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4"/>
          <p:cNvSpPr txBox="1">
            <a:spLocks noGrp="1"/>
          </p:cNvSpPr>
          <p:nvPr>
            <p:ph type="sldNum" idx="12"/>
          </p:nvPr>
        </p:nvSpPr>
        <p:spPr>
          <a:xfrm>
            <a:off x="8691675" y="4829300"/>
            <a:ext cx="4521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  <p:sp>
        <p:nvSpPr>
          <p:cNvPr id="489" name="Google Shape;489;p3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490" name="Google Shape;490;p3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491" name="Google Shape;491;p34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Clock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What characteristics does the clock need to have?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Punctual, reliable, and good rhythm.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What does it manage?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cycles per second. </a:t>
            </a:r>
            <a:endParaRPr/>
          </a:p>
        </p:txBody>
      </p:sp>
      <p:grpSp>
        <p:nvGrpSpPr>
          <p:cNvPr id="492" name="Google Shape;492;p34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493" name="Google Shape;49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4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5" name="Google Shape;495;p34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496" name="Google Shape;496;p34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34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8" name="Google Shape;498;p34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9" name="Google Shape;499;p34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500" name="Google Shape;500;p34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34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02" name="Google Shape;502;p34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503" name="Google Shape;503;p34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4" name="Google Shape;504;p34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05" name="Google Shape;505;p34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506" name="Google Shape;506;p34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7" name="Google Shape;507;p34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34"/>
              <p:cNvCxnSpPr>
                <a:endCxn id="506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34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0" name="Google Shape;510;p34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511" name="Google Shape;511;p34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34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3" name="Google Shape;513;p34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5" name="Google Shape;515;p34"/>
          <p:cNvSpPr txBox="1"/>
          <p:nvPr/>
        </p:nvSpPr>
        <p:spPr>
          <a:xfrm>
            <a:off x="7345250" y="17750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Clock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35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521" name="Google Shape;52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35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3" name="Google Shape;523;p35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524" name="Google Shape;524;p35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5" name="Google Shape;525;p35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26" name="Google Shape;526;p35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5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528" name="Google Shape;528;p35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35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30" name="Google Shape;530;p35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531" name="Google Shape;531;p35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35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33" name="Google Shape;533;p35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534" name="Google Shape;534;p35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p35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35"/>
              <p:cNvCxnSpPr>
                <a:endCxn id="534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35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38" name="Google Shape;538;p35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539" name="Google Shape;539;p35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0" name="Google Shape;540;p35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41" name="Google Shape;541;p35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5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35"/>
          <p:cNvSpPr txBox="1">
            <a:spLocks noGrp="1"/>
          </p:cNvSpPr>
          <p:nvPr>
            <p:ph type="sldNum" idx="12"/>
          </p:nvPr>
        </p:nvSpPr>
        <p:spPr>
          <a:xfrm>
            <a:off x="8673000" y="4829300"/>
            <a:ext cx="47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  <p:sp>
        <p:nvSpPr>
          <p:cNvPr id="544" name="Google Shape;544;p3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545" name="Google Shape;545;p3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546" name="Google Shape;546;p35"/>
          <p:cNvSpPr txBox="1">
            <a:spLocks noGrp="1"/>
          </p:cNvSpPr>
          <p:nvPr>
            <p:ph type="body" idx="2"/>
          </p:nvPr>
        </p:nvSpPr>
        <p:spPr>
          <a:xfrm>
            <a:off x="310900" y="9415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Registers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These are very small, very fast memory locations located inside the CPU. There are a few key registers.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Memory address register (MAR)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Memory data register (MDR)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Current instruction register (CIR)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Program counter (PC)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b="1"/>
              <a:t>Accumulator (Acc)</a:t>
            </a:r>
            <a:endParaRPr b="1"/>
          </a:p>
        </p:txBody>
      </p:sp>
      <p:sp>
        <p:nvSpPr>
          <p:cNvPr id="547" name="Google Shape;547;p35"/>
          <p:cNvSpPr txBox="1"/>
          <p:nvPr/>
        </p:nvSpPr>
        <p:spPr>
          <a:xfrm>
            <a:off x="6273200" y="3841500"/>
            <a:ext cx="1023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Registers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 txBox="1">
            <a:spLocks noGrp="1"/>
          </p:cNvSpPr>
          <p:nvPr>
            <p:ph type="sldNum" idx="12"/>
          </p:nvPr>
        </p:nvSpPr>
        <p:spPr>
          <a:xfrm>
            <a:off x="8732975" y="4829300"/>
            <a:ext cx="41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  <p:sp>
        <p:nvSpPr>
          <p:cNvPr id="553" name="Google Shape;553;p3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554" name="Google Shape;554;p3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555" name="Google Shape;555;p36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Registers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Each </a:t>
            </a:r>
            <a:r>
              <a:rPr lang="en-GB" b="1"/>
              <a:t>stores </a:t>
            </a:r>
            <a:r>
              <a:rPr lang="en-GB"/>
              <a:t>and</a:t>
            </a:r>
            <a:r>
              <a:rPr lang="en-GB" b="1"/>
              <a:t> manages </a:t>
            </a:r>
            <a:r>
              <a:rPr lang="en-GB"/>
              <a:t>specific useful data.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Memory address register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Stores memory addresses used when searching for data in RAM.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Memory data register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Stores the data when fetched from memory.</a:t>
            </a:r>
            <a:endParaRPr/>
          </a:p>
        </p:txBody>
      </p:sp>
      <p:pic>
        <p:nvPicPr>
          <p:cNvPr id="556" name="Google Shape;55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925" y="1215750"/>
            <a:ext cx="371475" cy="37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36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558" name="Google Shape;55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36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" name="Google Shape;560;p36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561" name="Google Shape;561;p36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36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63" name="Google Shape;563;p36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4" name="Google Shape;564;p36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565" name="Google Shape;565;p36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36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67" name="Google Shape;567;p36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568" name="Google Shape;568;p36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9" name="Google Shape;569;p36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6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571" name="Google Shape;571;p36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2" name="Google Shape;572;p36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3" name="Google Shape;573;p36"/>
              <p:cNvCxnSpPr>
                <a:endCxn id="571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4" name="Google Shape;574;p36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5" name="Google Shape;575;p36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576" name="Google Shape;576;p36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36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78" name="Google Shape;578;p36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" name="Google Shape;580;p36"/>
          <p:cNvSpPr txBox="1"/>
          <p:nvPr/>
        </p:nvSpPr>
        <p:spPr>
          <a:xfrm>
            <a:off x="6273200" y="3841500"/>
            <a:ext cx="1023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Registers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7"/>
          <p:cNvSpPr txBox="1">
            <a:spLocks noGrp="1"/>
          </p:cNvSpPr>
          <p:nvPr>
            <p:ph type="sldNum" idx="12"/>
          </p:nvPr>
        </p:nvSpPr>
        <p:spPr>
          <a:xfrm>
            <a:off x="8732975" y="4829300"/>
            <a:ext cx="41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  <p:sp>
        <p:nvSpPr>
          <p:cNvPr id="586" name="Google Shape;586;p3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587" name="Google Shape;587;p3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sp>
        <p:nvSpPr>
          <p:cNvPr id="588" name="Google Shape;588;p37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Registers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Current instruction register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Holds the binary representation of the instruction to be executed.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Program counter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register counts up as each instruction is executed, keeping track of how many instructions are in a program.</a:t>
            </a:r>
            <a:endParaRPr/>
          </a:p>
        </p:txBody>
      </p:sp>
      <p:pic>
        <p:nvPicPr>
          <p:cNvPr id="589" name="Google Shape;58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925" y="1215750"/>
            <a:ext cx="371475" cy="37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0" name="Google Shape;590;p37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591" name="Google Shape;5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37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3" name="Google Shape;593;p37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594" name="Google Shape;594;p37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595;p37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96" name="Google Shape;596;p37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37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598" name="Google Shape;598;p37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37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00" name="Google Shape;600;p37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601" name="Google Shape;601;p37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37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03" name="Google Shape;603;p37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604" name="Google Shape;604;p37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5" name="Google Shape;605;p37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6" name="Google Shape;606;p37"/>
              <p:cNvCxnSpPr>
                <a:endCxn id="604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7" name="Google Shape;607;p37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08" name="Google Shape;608;p37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609" name="Google Shape;609;p37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37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1" name="Google Shape;611;p37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613;p37"/>
          <p:cNvSpPr txBox="1"/>
          <p:nvPr/>
        </p:nvSpPr>
        <p:spPr>
          <a:xfrm>
            <a:off x="6273200" y="3841500"/>
            <a:ext cx="1023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Registers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2"/>
          <p:cNvSpPr txBox="1">
            <a:spLocks noGrp="1"/>
          </p:cNvSpPr>
          <p:nvPr>
            <p:ph type="body" idx="2"/>
          </p:nvPr>
        </p:nvSpPr>
        <p:spPr>
          <a:xfrm>
            <a:off x="310900" y="11701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Buses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Social, fast, and efficient.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What is a bus?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 communication pathway along which data signals are transmitted around the CPU. </a:t>
            </a:r>
            <a:endParaRPr/>
          </a:p>
        </p:txBody>
      </p:sp>
      <p:sp>
        <p:nvSpPr>
          <p:cNvPr id="755" name="Google Shape;755;p42"/>
          <p:cNvSpPr txBox="1">
            <a:spLocks noGrp="1"/>
          </p:cNvSpPr>
          <p:nvPr>
            <p:ph type="sldNum" idx="12"/>
          </p:nvPr>
        </p:nvSpPr>
        <p:spPr>
          <a:xfrm>
            <a:off x="8673000" y="4829300"/>
            <a:ext cx="47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48</a:t>
            </a:fld>
            <a:endParaRPr/>
          </a:p>
        </p:txBody>
      </p:sp>
      <p:sp>
        <p:nvSpPr>
          <p:cNvPr id="756" name="Google Shape;756;p4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60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757" name="Google Shape;757;p4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Inside the CPU</a:t>
            </a:r>
            <a:endParaRPr/>
          </a:p>
        </p:txBody>
      </p:sp>
      <p:grpSp>
        <p:nvGrpSpPr>
          <p:cNvPr id="758" name="Google Shape;758;p42"/>
          <p:cNvGrpSpPr/>
          <p:nvPr/>
        </p:nvGrpSpPr>
        <p:grpSpPr>
          <a:xfrm>
            <a:off x="4836725" y="1170125"/>
            <a:ext cx="3896250" cy="3550655"/>
            <a:chOff x="4836725" y="1093925"/>
            <a:chExt cx="3896250" cy="3550655"/>
          </a:xfrm>
        </p:grpSpPr>
        <p:pic>
          <p:nvPicPr>
            <p:cNvPr id="759" name="Google Shape;7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6725" y="1093925"/>
              <a:ext cx="3896250" cy="3550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" name="Google Shape;760;p42"/>
            <p:cNvSpPr/>
            <p:nvPr/>
          </p:nvSpPr>
          <p:spPr>
            <a:xfrm>
              <a:off x="5179025" y="1460650"/>
              <a:ext cx="3144900" cy="2798400"/>
            </a:xfrm>
            <a:prstGeom prst="rect">
              <a:avLst/>
            </a:prstGeom>
            <a:solidFill>
              <a:srgbClr val="F2F6F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1" name="Google Shape;761;p42"/>
            <p:cNvGrpSpPr/>
            <p:nvPr/>
          </p:nvGrpSpPr>
          <p:grpSpPr>
            <a:xfrm>
              <a:off x="5459725" y="3074525"/>
              <a:ext cx="386400" cy="817200"/>
              <a:chOff x="6453775" y="1741150"/>
              <a:chExt cx="386400" cy="817200"/>
            </a:xfrm>
          </p:grpSpPr>
          <p:cxnSp>
            <p:nvCxnSpPr>
              <p:cNvPr id="762" name="Google Shape;762;p42"/>
              <p:cNvCxnSpPr/>
              <p:nvPr/>
            </p:nvCxnSpPr>
            <p:spPr>
              <a:xfrm>
                <a:off x="6453775" y="252942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3" name="Google Shape;763;p42"/>
              <p:cNvCxnSpPr/>
              <p:nvPr/>
            </p:nvCxnSpPr>
            <p:spPr>
              <a:xfrm>
                <a:off x="6489325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64" name="Google Shape;764;p42"/>
            <p:cNvSpPr/>
            <p:nvPr/>
          </p:nvSpPr>
          <p:spPr>
            <a:xfrm>
              <a:off x="5258975" y="1567250"/>
              <a:ext cx="870600" cy="1812000"/>
            </a:xfrm>
            <a:prstGeom prst="rect">
              <a:avLst/>
            </a:prstGeom>
            <a:solidFill>
              <a:srgbClr val="FFEFDA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5" name="Google Shape;765;p42"/>
            <p:cNvGrpSpPr/>
            <p:nvPr/>
          </p:nvGrpSpPr>
          <p:grpSpPr>
            <a:xfrm>
              <a:off x="6129550" y="1726625"/>
              <a:ext cx="386400" cy="817200"/>
              <a:chOff x="6129550" y="1741150"/>
              <a:chExt cx="386400" cy="817200"/>
            </a:xfrm>
          </p:grpSpPr>
          <p:cxnSp>
            <p:nvCxnSpPr>
              <p:cNvPr id="766" name="Google Shape;766;p42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7" name="Google Shape;767;p42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68" name="Google Shape;768;p42"/>
            <p:cNvGrpSpPr/>
            <p:nvPr/>
          </p:nvGrpSpPr>
          <p:grpSpPr>
            <a:xfrm>
              <a:off x="7198200" y="2728575"/>
              <a:ext cx="386400" cy="817200"/>
              <a:chOff x="6129550" y="1741150"/>
              <a:chExt cx="386400" cy="817200"/>
            </a:xfrm>
          </p:grpSpPr>
          <p:cxnSp>
            <p:nvCxnSpPr>
              <p:cNvPr id="769" name="Google Shape;769;p42"/>
              <p:cNvCxnSpPr/>
              <p:nvPr/>
            </p:nvCxnSpPr>
            <p:spPr>
              <a:xfrm>
                <a:off x="6129550" y="1776675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0" name="Google Shape;770;p42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71" name="Google Shape;771;p42"/>
            <p:cNvGrpSpPr/>
            <p:nvPr/>
          </p:nvGrpSpPr>
          <p:grpSpPr>
            <a:xfrm>
              <a:off x="5804150" y="3510225"/>
              <a:ext cx="1961400" cy="639600"/>
              <a:chOff x="5258975" y="3595275"/>
              <a:chExt cx="1961400" cy="639600"/>
            </a:xfrm>
          </p:grpSpPr>
          <p:sp>
            <p:nvSpPr>
              <p:cNvPr id="772" name="Google Shape;772;p42"/>
              <p:cNvSpPr/>
              <p:nvPr/>
            </p:nvSpPr>
            <p:spPr>
              <a:xfrm>
                <a:off x="5258975" y="3595275"/>
                <a:ext cx="1961400" cy="639600"/>
              </a:xfrm>
              <a:prstGeom prst="rect">
                <a:avLst/>
              </a:prstGeom>
              <a:solidFill>
                <a:srgbClr val="E6E6EA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73" name="Google Shape;773;p42"/>
              <p:cNvCxnSpPr/>
              <p:nvPr/>
            </p:nvCxnSpPr>
            <p:spPr>
              <a:xfrm>
                <a:off x="57278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4" name="Google Shape;774;p42"/>
              <p:cNvCxnSpPr>
                <a:endCxn id="772" idx="2"/>
              </p:cNvCxnSpPr>
              <p:nvPr/>
            </p:nvCxnSpPr>
            <p:spPr>
              <a:xfrm>
                <a:off x="6239675" y="3603975"/>
                <a:ext cx="0" cy="630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5" name="Google Shape;775;p42"/>
              <p:cNvCxnSpPr/>
              <p:nvPr/>
            </p:nvCxnSpPr>
            <p:spPr>
              <a:xfrm>
                <a:off x="6751475" y="3604125"/>
                <a:ext cx="0" cy="6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76" name="Google Shape;776;p42"/>
            <p:cNvGrpSpPr/>
            <p:nvPr/>
          </p:nvGrpSpPr>
          <p:grpSpPr>
            <a:xfrm>
              <a:off x="6981150" y="1726625"/>
              <a:ext cx="386400" cy="817200"/>
              <a:chOff x="6453775" y="1741150"/>
              <a:chExt cx="386400" cy="817200"/>
            </a:xfrm>
          </p:grpSpPr>
          <p:cxnSp>
            <p:nvCxnSpPr>
              <p:cNvPr id="777" name="Google Shape;777;p42"/>
              <p:cNvCxnSpPr/>
              <p:nvPr/>
            </p:nvCxnSpPr>
            <p:spPr>
              <a:xfrm>
                <a:off x="6453775" y="1781100"/>
                <a:ext cx="3864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8" name="Google Shape;778;p42"/>
              <p:cNvCxnSpPr/>
              <p:nvPr/>
            </p:nvCxnSpPr>
            <p:spPr>
              <a:xfrm>
                <a:off x="6480450" y="1741150"/>
                <a:ext cx="0" cy="8172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1C257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79" name="Google Shape;779;p42"/>
            <p:cNvSpPr/>
            <p:nvPr/>
          </p:nvSpPr>
          <p:spPr>
            <a:xfrm>
              <a:off x="7306600" y="1567250"/>
              <a:ext cx="941700" cy="639600"/>
            </a:xfrm>
            <a:prstGeom prst="rect">
              <a:avLst/>
            </a:prstGeom>
            <a:solidFill>
              <a:srgbClr val="ECF8F5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/>
            <p:cNvSpPr/>
            <p:nvPr/>
          </p:nvSpPr>
          <p:spPr>
            <a:xfrm>
              <a:off x="6255875" y="2467625"/>
              <a:ext cx="991200" cy="911700"/>
            </a:xfrm>
            <a:prstGeom prst="rect">
              <a:avLst/>
            </a:prstGeom>
            <a:solidFill>
              <a:srgbClr val="FEF2F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1" name="Google Shape;781;p42"/>
          <p:cNvSpPr txBox="1"/>
          <p:nvPr/>
        </p:nvSpPr>
        <p:spPr>
          <a:xfrm>
            <a:off x="7409525" y="27942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82" name="Google Shape;782;p42"/>
          <p:cNvSpPr txBox="1"/>
          <p:nvPr/>
        </p:nvSpPr>
        <p:spPr>
          <a:xfrm>
            <a:off x="6765800" y="2191750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83" name="Google Shape;783;p42"/>
          <p:cNvSpPr txBox="1"/>
          <p:nvPr/>
        </p:nvSpPr>
        <p:spPr>
          <a:xfrm>
            <a:off x="5890850" y="150142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84" name="Google Shape;784;p42"/>
          <p:cNvSpPr txBox="1"/>
          <p:nvPr/>
        </p:nvSpPr>
        <p:spPr>
          <a:xfrm>
            <a:off x="5091175" y="3894375"/>
            <a:ext cx="8940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Bus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Lesson: Main memory</a:t>
            </a:r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532725" y="3275000"/>
            <a:ext cx="80958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dirty="0"/>
              <a:t>Computer systems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RAM: </a:t>
            </a:r>
            <a:r>
              <a:rPr lang="en-GB"/>
              <a:t>Random access memory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ROM:</a:t>
            </a:r>
            <a:r>
              <a:rPr lang="en-GB"/>
              <a:t> - Read-only memory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/>
              <a:t>Annotate your graphic organiser with the full names of main memory.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00" y="1289300"/>
            <a:ext cx="4096501" cy="29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RAM</a:t>
            </a:r>
            <a:r>
              <a:rPr lang="en-GB"/>
              <a:t> and </a:t>
            </a:r>
            <a:r>
              <a:rPr lang="en-GB" b="1"/>
              <a:t>ROM</a:t>
            </a:r>
            <a:r>
              <a:rPr lang="en-GB"/>
              <a:t> are both types of </a:t>
            </a:r>
            <a:r>
              <a:rPr lang="en-GB" b="1"/>
              <a:t>main memory.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/>
              <a:t>This means that they are directly accessible by the CPU.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Memory </a:t>
            </a:r>
            <a:r>
              <a:rPr lang="en-GB"/>
              <a:t>is used to store instructions for the CPU to execute.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They are </a:t>
            </a:r>
            <a:r>
              <a:rPr lang="en-GB" b="1"/>
              <a:t>much</a:t>
            </a:r>
            <a:r>
              <a:rPr lang="en-GB"/>
              <a:t> faster to access than storage — i.e. a hard drive.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00" y="1356513"/>
            <a:ext cx="4096501" cy="29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22"/>
          <p:cNvGraphicFramePr/>
          <p:nvPr/>
        </p:nvGraphicFramePr>
        <p:xfrm>
          <a:off x="310900" y="1289050"/>
          <a:ext cx="4096500" cy="3540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ROM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Read only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RAM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Read and write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8" name="Google Shape;15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3125" y="463863"/>
            <a:ext cx="40957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174" name="Google Shape;174;p2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24"/>
          <p:cNvGraphicFramePr/>
          <p:nvPr/>
        </p:nvGraphicFramePr>
        <p:xfrm>
          <a:off x="310900" y="1289050"/>
          <a:ext cx="4096500" cy="3540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RAM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Stores instructions and data ready for a CPU to execute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ROM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Stores permanent instructions that tell a computer how to ‘boot up’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3125" y="463863"/>
            <a:ext cx="40957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184" name="Google Shape;184;p2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2"/>
          </p:nvPr>
        </p:nvSpPr>
        <p:spPr>
          <a:xfrm>
            <a:off x="310900" y="1017700"/>
            <a:ext cx="40959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/>
              <a:t>If a computer system does not have enough RAM, it will run slowly.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/>
              <a:t>As a program executes, the instructions are loaded into RAM from secondary storage.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The CPU then takes the instructions from RAM and executes them. </a:t>
            </a:r>
            <a:endParaRPr/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2"/>
          </p:nvPr>
        </p:nvSpPr>
        <p:spPr>
          <a:xfrm>
            <a:off x="310900" y="1017700"/>
            <a:ext cx="40959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Volatile</a:t>
            </a:r>
            <a:r>
              <a:rPr lang="en-GB"/>
              <a:t> is a term that means ‘data is lost when the power is switched off’.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 b="1"/>
              <a:t>Non-volatile</a:t>
            </a:r>
            <a:r>
              <a:rPr lang="en-GB"/>
              <a:t> means the opposite it ‘does not lose memory when the power is switched off’.</a:t>
            </a:r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212" name="Google Shape;212;p2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pic>
        <p:nvPicPr>
          <p:cNvPr id="214" name="Google Shape;2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28"/>
          <p:cNvGraphicFramePr/>
          <p:nvPr/>
        </p:nvGraphicFramePr>
        <p:xfrm>
          <a:off x="310900" y="1289050"/>
          <a:ext cx="4096500" cy="3540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RAM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Volatile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ROM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Non-volatile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6" name="Google Shape;21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3125" y="463863"/>
            <a:ext cx="40957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pic>
        <p:nvPicPr>
          <p:cNvPr id="234" name="Google Shape;2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30"/>
          <p:cNvGraphicFramePr/>
          <p:nvPr/>
        </p:nvGraphicFramePr>
        <p:xfrm>
          <a:off x="310900" y="1289050"/>
          <a:ext cx="4096500" cy="3540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ROM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6–8MB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RAM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1–256GB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6" name="Google Shape;2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3125" y="463863"/>
            <a:ext cx="40957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Main memory</a:t>
            </a:r>
            <a:endParaRPr b="0"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body" idx="2"/>
          </p:nvPr>
        </p:nvSpPr>
        <p:spPr>
          <a:xfrm>
            <a:off x="310900" y="1017700"/>
            <a:ext cx="40959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/>
              <a:t>A computer system may also use </a:t>
            </a:r>
            <a:r>
              <a:rPr lang="en-GB" b="1"/>
              <a:t>virtual memory. 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GB"/>
              <a:t>If a program needs more memory than is available, the operating system will reserve some in </a:t>
            </a:r>
            <a:r>
              <a:rPr lang="en-GB" b="1"/>
              <a:t>secondary storage</a:t>
            </a:r>
            <a:r>
              <a:rPr lang="en-GB"/>
              <a:t> that acts as an </a:t>
            </a:r>
            <a:r>
              <a:rPr lang="en-GB" b="1"/>
              <a:t>extension</a:t>
            </a:r>
            <a:r>
              <a:rPr lang="en-GB"/>
              <a:t> of main memory.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244" name="Google Shape;2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100" y="1289050"/>
            <a:ext cx="4096501" cy="29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Lesson: Logic gates</a:t>
            </a:r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dirty="0"/>
              <a:t>Computer systems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body" idx="2"/>
          </p:nvPr>
        </p:nvSpPr>
        <p:spPr>
          <a:xfrm>
            <a:off x="310900" y="10177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George Boole was an English mathematician who lived in the 1800s.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In 1847 he wrote a book called </a:t>
            </a:r>
            <a:r>
              <a:rPr lang="en-GB" i="1"/>
              <a:t>The Mathematical Analysis of Logic</a:t>
            </a:r>
            <a:r>
              <a:rPr lang="en-GB"/>
              <a:t>, in which he introduced </a:t>
            </a:r>
            <a:r>
              <a:rPr lang="en-GB" b="1"/>
              <a:t>Boolean algebra</a:t>
            </a:r>
            <a:r>
              <a:rPr lang="en-GB"/>
              <a:t> which used the logical states of </a:t>
            </a:r>
            <a:r>
              <a:rPr lang="en-GB" b="1"/>
              <a:t>True</a:t>
            </a:r>
            <a:r>
              <a:rPr lang="en-GB"/>
              <a:t> or </a:t>
            </a:r>
            <a:r>
              <a:rPr lang="en-GB" b="1"/>
              <a:t>False.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2500" y="1289048"/>
            <a:ext cx="2095500" cy="2807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310900" y="10177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Later in 1940 </a:t>
            </a:r>
            <a:r>
              <a:rPr lang="en-GB" b="1"/>
              <a:t>Claude Shannon</a:t>
            </a:r>
            <a:r>
              <a:rPr lang="en-GB"/>
              <a:t> discovered that </a:t>
            </a:r>
            <a:r>
              <a:rPr lang="en-GB" b="1"/>
              <a:t>Boolean algebra</a:t>
            </a:r>
            <a:r>
              <a:rPr lang="en-GB"/>
              <a:t> could be applied to </a:t>
            </a:r>
            <a:r>
              <a:rPr lang="en-GB" b="1"/>
              <a:t>electrical circuits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 b="1"/>
              <a:t>True </a:t>
            </a:r>
            <a:r>
              <a:rPr lang="en-GB"/>
              <a:t>and </a:t>
            </a:r>
            <a:r>
              <a:rPr lang="en-GB" b="1"/>
              <a:t>False</a:t>
            </a:r>
            <a:r>
              <a:rPr lang="en-GB"/>
              <a:t> values could also be represented as </a:t>
            </a:r>
            <a:r>
              <a:rPr lang="en-GB" b="1"/>
              <a:t>1 </a:t>
            </a:r>
            <a:r>
              <a:rPr lang="en-GB"/>
              <a:t>and </a:t>
            </a:r>
            <a:r>
              <a:rPr lang="en-GB" b="1"/>
              <a:t>0.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Shannon’s discovery forms the basis of all electronic computers.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875" y="1289050"/>
            <a:ext cx="1992760" cy="28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l="7945" r="7078"/>
          <a:stretch/>
        </p:blipFill>
        <p:spPr>
          <a:xfrm>
            <a:off x="4737100" y="1170125"/>
            <a:ext cx="3986224" cy="365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310900" y="10177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computers have a </a:t>
            </a:r>
            <a:r>
              <a:rPr lang="en-GB" b="1"/>
              <a:t>central processing unit</a:t>
            </a:r>
            <a:r>
              <a:rPr lang="en-GB"/>
              <a:t> (CPU). The </a:t>
            </a:r>
            <a:r>
              <a:rPr lang="en-GB" b="1"/>
              <a:t>CPU </a:t>
            </a:r>
            <a:r>
              <a:rPr lang="en-GB"/>
              <a:t>processes the data and instructions for the computer.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This processing uses </a:t>
            </a:r>
            <a:r>
              <a:rPr lang="en-GB" b="1"/>
              <a:t>billions</a:t>
            </a:r>
            <a:r>
              <a:rPr lang="en-GB"/>
              <a:t> of tiny electronic components to carry out operations called </a:t>
            </a:r>
            <a:r>
              <a:rPr lang="en-GB" b="1"/>
              <a:t>logic gates.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body" idx="2"/>
          </p:nvPr>
        </p:nvSpPr>
        <p:spPr>
          <a:xfrm>
            <a:off x="310900" y="108305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Logic gates</a:t>
            </a:r>
            <a:r>
              <a:rPr lang="en-GB"/>
              <a:t> use </a:t>
            </a:r>
            <a:r>
              <a:rPr lang="en-GB" b="1"/>
              <a:t>Boolean logic</a:t>
            </a:r>
            <a:r>
              <a:rPr lang="en-GB"/>
              <a:t> to take one or more </a:t>
            </a:r>
            <a:r>
              <a:rPr lang="en-GB" b="1"/>
              <a:t>inputs</a:t>
            </a:r>
            <a:r>
              <a:rPr lang="en-GB"/>
              <a:t> and produce a single </a:t>
            </a:r>
            <a:r>
              <a:rPr lang="en-GB" b="1"/>
              <a:t>output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We use </a:t>
            </a:r>
            <a:r>
              <a:rPr lang="en-GB" b="1"/>
              <a:t>symbols </a:t>
            </a:r>
            <a:r>
              <a:rPr lang="en-GB"/>
              <a:t>to represent these gates in a circuit. 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8675" y="1203992"/>
            <a:ext cx="10800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675" y="3199525"/>
            <a:ext cx="1080000" cy="55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675" y="2164100"/>
            <a:ext cx="1079999" cy="61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body" idx="2"/>
          </p:nvPr>
        </p:nvSpPr>
        <p:spPr>
          <a:xfrm>
            <a:off x="310900" y="10939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There are </a:t>
            </a:r>
            <a:r>
              <a:rPr lang="en-GB" b="1"/>
              <a:t>three </a:t>
            </a:r>
            <a:r>
              <a:rPr lang="en-GB"/>
              <a:t>fundamental logic gates. These are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GB"/>
              <a:t>,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-GB"/>
              <a:t>, and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-GB"/>
              <a:t>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three fundamental gates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850" y="1170117"/>
            <a:ext cx="1080001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4850" y="3165650"/>
            <a:ext cx="1080000" cy="55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4850" y="2130225"/>
            <a:ext cx="1079999" cy="613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7401200" y="1297965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7401200" y="226024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OR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440400" y="3222515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body" idx="2"/>
          </p:nvPr>
        </p:nvSpPr>
        <p:spPr>
          <a:xfrm>
            <a:off x="310900" y="10177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b="1"/>
              <a:t>Logic gates</a:t>
            </a:r>
            <a:r>
              <a:rPr lang="en-GB"/>
              <a:t> switch on and off, depending on the input that has been provided and the type of gate being used.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8037" y="2023898"/>
            <a:ext cx="1944430" cy="1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>
            <a:off x="8059150" y="236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5353875" y="20694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5353875" y="27180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body" idx="2"/>
          </p:nvPr>
        </p:nvSpPr>
        <p:spPr>
          <a:xfrm>
            <a:off x="310900" y="106525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inputs evaluate to </a:t>
            </a:r>
            <a:r>
              <a:rPr lang="en-GB" b="1"/>
              <a:t>True, </a:t>
            </a:r>
            <a:r>
              <a:rPr lang="en-GB"/>
              <a:t>then an electrical current will flow through the gate.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br>
              <a:rPr lang="en-GB"/>
            </a:br>
            <a:r>
              <a:rPr lang="en-GB"/>
              <a:t>The gate will be switched </a:t>
            </a:r>
            <a:r>
              <a:rPr lang="en-GB" b="1"/>
              <a:t>on</a:t>
            </a:r>
            <a:r>
              <a:rPr lang="en-GB"/>
              <a:t>. 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8037" y="2023898"/>
            <a:ext cx="1944430" cy="1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/>
        </p:nvSpPr>
        <p:spPr>
          <a:xfrm>
            <a:off x="8059150" y="236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5353875" y="20694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5353875" y="27180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050" y="2023899"/>
            <a:ext cx="1944426" cy="109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body" idx="2"/>
          </p:nvPr>
        </p:nvSpPr>
        <p:spPr>
          <a:xfrm>
            <a:off x="310900" y="106525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inputs evaluate to </a:t>
            </a:r>
            <a:r>
              <a:rPr lang="en-GB" b="1"/>
              <a:t>False, </a:t>
            </a:r>
            <a:r>
              <a:rPr lang="en-GB"/>
              <a:t>then the electrical current will be stopped.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gate will be switched </a:t>
            </a:r>
            <a:r>
              <a:rPr lang="en-GB" b="1"/>
              <a:t>off</a:t>
            </a:r>
            <a:r>
              <a:rPr lang="en-GB"/>
              <a:t>.</a:t>
            </a:r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very logical!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8037" y="2023898"/>
            <a:ext cx="1944430" cy="10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050" y="2023900"/>
            <a:ext cx="1944426" cy="1095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8059150" y="236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5353875" y="20694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5353875" y="27180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body" idx="2"/>
          </p:nvPr>
        </p:nvSpPr>
        <p:spPr>
          <a:xfrm>
            <a:off x="310900" y="1170130"/>
            <a:ext cx="40965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the ‘Logic gates’ worksheet.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There is space for you to make notes as we go through the three fundamental gates.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three fundamental gates.</a:t>
            </a:r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400" y="1425037"/>
            <a:ext cx="4431800" cy="229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0900" y="1170124"/>
            <a:ext cx="4096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The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GB"/>
              <a:t> logic gate takes </a:t>
            </a:r>
            <a:r>
              <a:rPr lang="en-GB" b="1"/>
              <a:t>two </a:t>
            </a:r>
            <a:r>
              <a:rPr lang="en-GB"/>
              <a:t>inputs.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3" name="Google Shape;213;p2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three fundamental gates: AND</a:t>
            </a:r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225" y="2267192"/>
            <a:ext cx="1080001" cy="6091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7"/>
          <p:cNvGrpSpPr/>
          <p:nvPr/>
        </p:nvGrpSpPr>
        <p:grpSpPr>
          <a:xfrm>
            <a:off x="4697963" y="2324700"/>
            <a:ext cx="1377250" cy="494100"/>
            <a:chOff x="4697963" y="2324700"/>
            <a:chExt cx="1377250" cy="494100"/>
          </a:xfrm>
        </p:grpSpPr>
        <p:sp>
          <p:nvSpPr>
            <p:cNvPr id="217" name="Google Shape;217;p27"/>
            <p:cNvSpPr txBox="1"/>
            <p:nvPr/>
          </p:nvSpPr>
          <p:spPr>
            <a:xfrm>
              <a:off x="4697963" y="2414700"/>
              <a:ext cx="7140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54000" bIns="3600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inputs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985213" y="2324700"/>
              <a:ext cx="90000" cy="9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5985213" y="2728800"/>
              <a:ext cx="90000" cy="9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0" name="Google Shape;220;p27"/>
            <p:cNvCxnSpPr>
              <a:stCxn id="217" idx="3"/>
              <a:endCxn id="218" idx="2"/>
            </p:cNvCxnSpPr>
            <p:nvPr/>
          </p:nvCxnSpPr>
          <p:spPr>
            <a:xfrm rot="10800000" flipH="1">
              <a:off x="5411963" y="2369550"/>
              <a:ext cx="573300" cy="202200"/>
            </a:xfrm>
            <a:prstGeom prst="curvedConnector3">
              <a:avLst>
                <a:gd name="adj1" fmla="val 4999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21" name="Google Shape;221;p27"/>
            <p:cNvCxnSpPr>
              <a:stCxn id="217" idx="3"/>
              <a:endCxn id="219" idx="2"/>
            </p:cNvCxnSpPr>
            <p:nvPr/>
          </p:nvCxnSpPr>
          <p:spPr>
            <a:xfrm>
              <a:off x="5411963" y="2571750"/>
              <a:ext cx="573300" cy="202200"/>
            </a:xfrm>
            <a:prstGeom prst="curvedConnector3">
              <a:avLst>
                <a:gd name="adj1" fmla="val 4999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grpSp>
        <p:nvGrpSpPr>
          <p:cNvPr id="222" name="Google Shape;222;p27"/>
          <p:cNvGrpSpPr/>
          <p:nvPr/>
        </p:nvGrpSpPr>
        <p:grpSpPr>
          <a:xfrm>
            <a:off x="7155213" y="2414700"/>
            <a:ext cx="1317738" cy="314100"/>
            <a:chOff x="7155213" y="2414700"/>
            <a:chExt cx="1317738" cy="314100"/>
          </a:xfrm>
        </p:grpSpPr>
        <p:sp>
          <p:nvSpPr>
            <p:cNvPr id="223" name="Google Shape;223;p27"/>
            <p:cNvSpPr txBox="1"/>
            <p:nvPr/>
          </p:nvSpPr>
          <p:spPr>
            <a:xfrm>
              <a:off x="7758950" y="2414700"/>
              <a:ext cx="7140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54000" bIns="36000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output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7155213" y="2526750"/>
              <a:ext cx="90000" cy="9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5" name="Google Shape;225;p27"/>
            <p:cNvCxnSpPr>
              <a:stCxn id="223" idx="1"/>
              <a:endCxn id="224" idx="6"/>
            </p:cNvCxnSpPr>
            <p:nvPr/>
          </p:nvCxnSpPr>
          <p:spPr>
            <a:xfrm flipH="1">
              <a:off x="7245350" y="2571750"/>
              <a:ext cx="513600" cy="600"/>
            </a:xfrm>
            <a:prstGeom prst="curvedConnector3">
              <a:avLst>
                <a:gd name="adj1" fmla="val 50013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</p:grpSp>
      <p:sp>
        <p:nvSpPr>
          <p:cNvPr id="226" name="Google Shape;226;p27"/>
          <p:cNvSpPr txBox="1">
            <a:spLocks noGrp="1"/>
          </p:cNvSpPr>
          <p:nvPr>
            <p:ph type="body" idx="2"/>
          </p:nvPr>
        </p:nvSpPr>
        <p:spPr>
          <a:xfrm>
            <a:off x="671725" y="4060849"/>
            <a:ext cx="40965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400"/>
              <a:t>All logic gates have a single output.  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7" name="Google Shape;2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00" y="4153000"/>
            <a:ext cx="241100" cy="2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2;p28">
            <a:extLst>
              <a:ext uri="{FF2B5EF4-FFF2-40B4-BE49-F238E27FC236}">
                <a16:creationId xmlns:a16="http://schemas.microsoft.com/office/drawing/2014/main" id="{5E2C02D1-4B4D-5551-70DB-BE4B650BA4E6}"/>
              </a:ext>
            </a:extLst>
          </p:cNvPr>
          <p:cNvSpPr txBox="1">
            <a:spLocks/>
          </p:cNvSpPr>
          <p:nvPr/>
        </p:nvSpPr>
        <p:spPr>
          <a:xfrm>
            <a:off x="299601" y="2284669"/>
            <a:ext cx="4096500" cy="106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>
              <a:buFont typeface="Quicksand"/>
              <a:buNone/>
            </a:pPr>
            <a:r>
              <a:rPr lang="en-US"/>
              <a:t>An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/>
              <a:t> gate will only output as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/>
              <a:t> (switch on) if both inputs are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/>
              <a:t>. </a:t>
            </a:r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/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 sz="1400"/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 sz="1400"/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 sz="1400"/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 sz="1400"/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 sz="1400"/>
          </a:p>
          <a:p>
            <a:pPr marL="0" indent="0">
              <a:spcBef>
                <a:spcPts val="1600"/>
              </a:spcBef>
              <a:buFont typeface="Quicksand"/>
              <a:buNone/>
            </a:pPr>
            <a:endParaRPr lang="en-US" sz="1400"/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Quicksand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>
            <a:spLocks noGrp="1"/>
          </p:cNvSpPr>
          <p:nvPr>
            <p:ph type="body" idx="2"/>
          </p:nvPr>
        </p:nvSpPr>
        <p:spPr>
          <a:xfrm>
            <a:off x="310900" y="1170130"/>
            <a:ext cx="40965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an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-GB"/>
              <a:t> gate.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An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-GB"/>
              <a:t> gate will output as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/>
              <a:t> if one or both inputs are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05" name="Google Shape;405;p4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three fundamental gates: OR</a:t>
            </a:r>
            <a:endParaRPr/>
          </a:p>
        </p:txBody>
      </p:sp>
      <p:sp>
        <p:nvSpPr>
          <p:cNvPr id="406" name="Google Shape;406;p4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407" name="Google Shape;407;p45"/>
          <p:cNvSpPr txBox="1"/>
          <p:nvPr/>
        </p:nvSpPr>
        <p:spPr>
          <a:xfrm>
            <a:off x="7196000" y="236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5452925" y="215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5452925" y="257174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10" name="Google Shape;4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6000" y="2234675"/>
            <a:ext cx="1079999" cy="61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>
            <a:spLocks noGrp="1"/>
          </p:cNvSpPr>
          <p:nvPr>
            <p:ph type="body" idx="2"/>
          </p:nvPr>
        </p:nvSpPr>
        <p:spPr>
          <a:xfrm>
            <a:off x="310900" y="1170130"/>
            <a:ext cx="40965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-GB"/>
              <a:t> gate.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-GB"/>
              <a:t> gate only has 1 input and 1 output.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output is always the </a:t>
            </a:r>
            <a:r>
              <a:rPr lang="en-GB" b="1"/>
              <a:t>opposite</a:t>
            </a:r>
            <a:r>
              <a:rPr lang="en-GB"/>
              <a:t> of the input.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-GB"/>
              <a:t> gates are often referred to as </a:t>
            </a:r>
            <a:r>
              <a:rPr lang="en-GB" b="1"/>
              <a:t>inverters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three fundamental gates: NOT</a:t>
            </a:r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sp>
        <p:nvSpPr>
          <p:cNvPr id="476" name="Google Shape;476;p52"/>
          <p:cNvSpPr txBox="1"/>
          <p:nvPr/>
        </p:nvSpPr>
        <p:spPr>
          <a:xfrm>
            <a:off x="7196000" y="236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7" name="Google Shape;477;p52"/>
          <p:cNvSpPr txBox="1"/>
          <p:nvPr/>
        </p:nvSpPr>
        <p:spPr>
          <a:xfrm>
            <a:off x="5342300" y="23646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78" name="Google Shape;47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6000" y="2264925"/>
            <a:ext cx="1080000" cy="55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“My security system will trigger if it is night-time and it detects movement.”</a:t>
            </a:r>
            <a:endParaRPr sz="3000" b="1"/>
          </a:p>
        </p:txBody>
      </p:sp>
      <p:sp>
        <p:nvSpPr>
          <p:cNvPr id="515" name="Google Shape;515;p5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516" name="Google Shape;516;p5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inputs</a:t>
            </a:r>
            <a:r>
              <a:rPr lang="en-GB"/>
              <a:t> in the expression </a:t>
            </a:r>
            <a:endParaRPr/>
          </a:p>
        </p:txBody>
      </p:sp>
      <p:sp>
        <p:nvSpPr>
          <p:cNvPr id="517" name="Google Shape;517;p5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518" name="Google Shape;51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“My security system will trigger if it is </a:t>
            </a:r>
            <a:r>
              <a:rPr lang="en-GB" sz="3000" b="1" u="sng"/>
              <a:t>night-time</a:t>
            </a:r>
            <a:r>
              <a:rPr lang="en-GB" sz="3000" b="1"/>
              <a:t> and it detects </a:t>
            </a:r>
            <a:r>
              <a:rPr lang="en-GB" sz="3000" b="1" u="sng"/>
              <a:t>movement</a:t>
            </a:r>
            <a:r>
              <a:rPr lang="en-GB" sz="3000" b="1"/>
              <a:t>.”</a:t>
            </a:r>
            <a:endParaRPr sz="3000" b="1"/>
          </a:p>
        </p:txBody>
      </p:sp>
      <p:sp>
        <p:nvSpPr>
          <p:cNvPr id="524" name="Google Shape;524;p5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525" name="Google Shape;525;p5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inputs</a:t>
            </a:r>
            <a:r>
              <a:rPr lang="en-GB"/>
              <a:t> in the expression </a:t>
            </a:r>
            <a:endParaRPr/>
          </a:p>
        </p:txBody>
      </p:sp>
      <p:sp>
        <p:nvSpPr>
          <p:cNvPr id="526" name="Google Shape;526;p5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527" name="Google Shape;52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“My security system will trigger if it is night-time and it detects movement.”</a:t>
            </a:r>
            <a:endParaRPr sz="3000" b="1"/>
          </a:p>
        </p:txBody>
      </p:sp>
      <p:sp>
        <p:nvSpPr>
          <p:cNvPr id="533" name="Google Shape;533;p5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534" name="Google Shape;534;p5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inputs</a:t>
            </a:r>
            <a:r>
              <a:rPr lang="en-GB"/>
              <a:t> in the expression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output</a:t>
            </a:r>
            <a:endParaRPr/>
          </a:p>
        </p:txBody>
      </p:sp>
      <p:sp>
        <p:nvSpPr>
          <p:cNvPr id="535" name="Google Shape;535;p5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536" name="Google Shape;53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9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“My security system will </a:t>
            </a:r>
            <a:r>
              <a:rPr lang="en-GB" sz="3000" b="1" u="sng"/>
              <a:t>trigger</a:t>
            </a:r>
            <a:r>
              <a:rPr lang="en-GB" sz="3000" b="1"/>
              <a:t> if it is night-time and it detects movement.”</a:t>
            </a:r>
            <a:endParaRPr sz="3000" b="1"/>
          </a:p>
        </p:txBody>
      </p:sp>
      <p:sp>
        <p:nvSpPr>
          <p:cNvPr id="542" name="Google Shape;542;p5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543" name="Google Shape;543;p5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inputs</a:t>
            </a:r>
            <a:r>
              <a:rPr lang="en-GB"/>
              <a:t> in the expression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output</a:t>
            </a:r>
            <a:endParaRPr/>
          </a:p>
        </p:txBody>
      </p:sp>
      <p:sp>
        <p:nvSpPr>
          <p:cNvPr id="544" name="Google Shape;544;p5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545" name="Google Shape;54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0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 dirty="0"/>
              <a:t>“My security system will trigger if it is night-time </a:t>
            </a:r>
            <a:r>
              <a:rPr lang="en-GB" sz="3000" b="1" u="sng" dirty="0"/>
              <a:t>and</a:t>
            </a:r>
            <a:r>
              <a:rPr lang="en-GB" sz="3000" b="1" dirty="0"/>
              <a:t> it detects movement.”</a:t>
            </a:r>
            <a:endParaRPr sz="3000" b="1" dirty="0"/>
          </a:p>
        </p:txBody>
      </p:sp>
      <p:sp>
        <p:nvSpPr>
          <p:cNvPr id="551" name="Google Shape;551;p6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552" name="Google Shape;552;p6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Identify the </a:t>
            </a:r>
            <a:r>
              <a:rPr lang="en-GB" b="1" dirty="0"/>
              <a:t>inputs</a:t>
            </a:r>
            <a:r>
              <a:rPr lang="en-GB" dirty="0"/>
              <a:t> in the expression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Identify the </a:t>
            </a:r>
            <a:r>
              <a:rPr lang="en-GB" b="1" dirty="0"/>
              <a:t>output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Identify the </a:t>
            </a:r>
            <a:r>
              <a:rPr lang="en-GB" b="1" dirty="0"/>
              <a:t>logical operator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553" name="Google Shape;553;p6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554" name="Google Shape;55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3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b="1"/>
              <a:t>“My security system will </a:t>
            </a:r>
            <a:r>
              <a:rPr lang="en-GB" b="1" u="sng"/>
              <a:t>trigger</a:t>
            </a:r>
            <a:r>
              <a:rPr lang="en-GB" b="1"/>
              <a:t> if it is </a:t>
            </a:r>
            <a:r>
              <a:rPr lang="en-GB" b="1" u="sng"/>
              <a:t>night-time</a:t>
            </a:r>
            <a:r>
              <a:rPr lang="en-GB" b="1"/>
              <a:t> and it detects </a:t>
            </a:r>
            <a:r>
              <a:rPr lang="en-GB" b="1" u="sng"/>
              <a:t>movement</a:t>
            </a:r>
            <a:r>
              <a:rPr lang="en-GB" b="1"/>
              <a:t>.”</a:t>
            </a:r>
            <a:endParaRPr b="1"/>
          </a:p>
        </p:txBody>
      </p:sp>
      <p:sp>
        <p:nvSpPr>
          <p:cNvPr id="578" name="Google Shape;578;p6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579" name="Google Shape;579;p6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inputs</a:t>
            </a:r>
            <a:r>
              <a:rPr lang="en-GB"/>
              <a:t> in the expression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output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logical operator</a:t>
            </a:r>
            <a:r>
              <a:rPr lang="en-GB"/>
              <a:t>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Draw the </a:t>
            </a:r>
            <a:r>
              <a:rPr lang="en-GB" b="1"/>
              <a:t>logical diagram</a:t>
            </a:r>
            <a:endParaRPr b="1"/>
          </a:p>
        </p:txBody>
      </p:sp>
      <p:sp>
        <p:nvSpPr>
          <p:cNvPr id="580" name="Google Shape;580;p6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581" name="Google Shape;58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0025" y="2952992"/>
            <a:ext cx="1080001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3"/>
          <p:cNvSpPr txBox="1"/>
          <p:nvPr/>
        </p:nvSpPr>
        <p:spPr>
          <a:xfrm>
            <a:off x="7500800" y="3050500"/>
            <a:ext cx="15198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alarm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4" name="Google Shape;584;p63"/>
          <p:cNvSpPr txBox="1"/>
          <p:nvPr/>
        </p:nvSpPr>
        <p:spPr>
          <a:xfrm>
            <a:off x="5320625" y="2840500"/>
            <a:ext cx="12108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night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5" name="Google Shape;585;p63"/>
          <p:cNvSpPr txBox="1"/>
          <p:nvPr/>
        </p:nvSpPr>
        <p:spPr>
          <a:xfrm>
            <a:off x="5320325" y="3257550"/>
            <a:ext cx="12108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movement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b="1"/>
              <a:t>“My security system will </a:t>
            </a:r>
            <a:r>
              <a:rPr lang="en-GB" b="1" u="sng"/>
              <a:t>trigger</a:t>
            </a:r>
            <a:r>
              <a:rPr lang="en-GB" b="1"/>
              <a:t> if it is </a:t>
            </a:r>
            <a:r>
              <a:rPr lang="en-GB" b="1" u="sng"/>
              <a:t>night-time</a:t>
            </a:r>
            <a:r>
              <a:rPr lang="en-GB" b="1"/>
              <a:t> and it detects </a:t>
            </a:r>
            <a:r>
              <a:rPr lang="en-GB" b="1" u="sng"/>
              <a:t>movement</a:t>
            </a:r>
            <a:r>
              <a:rPr lang="en-GB" b="1"/>
              <a:t>.”</a:t>
            </a:r>
            <a:endParaRPr sz="3000" b="1"/>
          </a:p>
        </p:txBody>
      </p:sp>
      <p:sp>
        <p:nvSpPr>
          <p:cNvPr id="600" name="Google Shape;600;p6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it all together</a:t>
            </a:r>
            <a:endParaRPr/>
          </a:p>
        </p:txBody>
      </p:sp>
      <p:sp>
        <p:nvSpPr>
          <p:cNvPr id="601" name="Google Shape;601;p6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inputs</a:t>
            </a:r>
            <a:r>
              <a:rPr lang="en-GB"/>
              <a:t> in the expression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output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the </a:t>
            </a:r>
            <a:r>
              <a:rPr lang="en-GB" b="1"/>
              <a:t>logical operator</a:t>
            </a:r>
            <a:r>
              <a:rPr lang="en-GB"/>
              <a:t>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Draw the </a:t>
            </a:r>
            <a:r>
              <a:rPr lang="en-GB" b="1"/>
              <a:t>logical diagram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the </a:t>
            </a:r>
            <a:r>
              <a:rPr lang="en-GB" b="1"/>
              <a:t>truth table</a:t>
            </a:r>
            <a:endParaRPr b="1"/>
          </a:p>
        </p:txBody>
      </p:sp>
      <p:sp>
        <p:nvSpPr>
          <p:cNvPr id="602" name="Google Shape;602;p6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603" name="Google Shape;60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25" y="480175"/>
            <a:ext cx="371475" cy="37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4" name="Google Shape;604;p65"/>
          <p:cNvGraphicFramePr/>
          <p:nvPr/>
        </p:nvGraphicFramePr>
        <p:xfrm>
          <a:off x="5407100" y="2571750"/>
          <a:ext cx="2755500" cy="21943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8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Inputs</a:t>
                      </a:r>
                      <a:endParaRPr sz="1200">
                        <a:solidFill>
                          <a:srgbClr val="FFFFFF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Output</a:t>
                      </a:r>
                      <a:endParaRPr sz="1200">
                        <a:solidFill>
                          <a:srgbClr val="FFFFFF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6"/>
          <p:cNvSpPr txBox="1">
            <a:spLocks noGrp="1"/>
          </p:cNvSpPr>
          <p:nvPr>
            <p:ph type="body" idx="2"/>
          </p:nvPr>
        </p:nvSpPr>
        <p:spPr>
          <a:xfrm>
            <a:off x="310900" y="1017725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Use the </a:t>
            </a:r>
            <a:r>
              <a:rPr lang="en-GB" b="1"/>
              <a:t>‘Putting it all together’ worksheet</a:t>
            </a:r>
            <a:r>
              <a:rPr lang="en-GB"/>
              <a:t> to turn the statements into logic circuits with a truth table.</a:t>
            </a:r>
            <a:endParaRPr/>
          </a:p>
        </p:txBody>
      </p:sp>
      <p:sp>
        <p:nvSpPr>
          <p:cNvPr id="610" name="Google Shape;610;p6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Activity: Putting it all together</a:t>
            </a:r>
            <a:endParaRPr/>
          </a:p>
        </p:txBody>
      </p:sp>
      <p:sp>
        <p:nvSpPr>
          <p:cNvPr id="611" name="Google Shape;611;p6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612" name="Google Shape;6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675" y="964475"/>
            <a:ext cx="4270225" cy="38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7"/>
          <p:cNvSpPr txBox="1">
            <a:spLocks noGrp="1"/>
          </p:cNvSpPr>
          <p:nvPr>
            <p:ph type="body" idx="2"/>
          </p:nvPr>
        </p:nvSpPr>
        <p:spPr>
          <a:xfrm>
            <a:off x="310900" y="106145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400" b="1"/>
              <a:t>“The light will turn on if the switch is turned or if I clap.”</a:t>
            </a:r>
            <a:endParaRPr/>
          </a:p>
        </p:txBody>
      </p:sp>
      <p:sp>
        <p:nvSpPr>
          <p:cNvPr id="618" name="Google Shape;618;p6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Solutions: Putting it all together</a:t>
            </a:r>
            <a:endParaRPr/>
          </a:p>
        </p:txBody>
      </p:sp>
      <p:sp>
        <p:nvSpPr>
          <p:cNvPr id="619" name="Google Shape;619;p6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graphicFrame>
        <p:nvGraphicFramePr>
          <p:cNvPr id="620" name="Google Shape;620;p67"/>
          <p:cNvGraphicFramePr/>
          <p:nvPr/>
        </p:nvGraphicFramePr>
        <p:xfrm>
          <a:off x="4973525" y="1170100"/>
          <a:ext cx="3622650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0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Inputs</a:t>
                      </a:r>
                      <a:endParaRPr>
                        <a:solidFill>
                          <a:srgbClr val="FFFFFF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Output</a:t>
                      </a:r>
                      <a:endParaRPr>
                        <a:solidFill>
                          <a:srgbClr val="FFFFFF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1" name="Google Shape;621;p67"/>
          <p:cNvSpPr txBox="1"/>
          <p:nvPr/>
        </p:nvSpPr>
        <p:spPr>
          <a:xfrm>
            <a:off x="2843838" y="250724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2" name="Google Shape;622;p67"/>
          <p:cNvSpPr txBox="1"/>
          <p:nvPr/>
        </p:nvSpPr>
        <p:spPr>
          <a:xfrm>
            <a:off x="933903" y="2297250"/>
            <a:ext cx="9405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switch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3" name="Google Shape;623;p67"/>
          <p:cNvSpPr txBox="1"/>
          <p:nvPr/>
        </p:nvSpPr>
        <p:spPr>
          <a:xfrm>
            <a:off x="1100763" y="2714290"/>
            <a:ext cx="773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clap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24" name="Google Shape;62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838" y="2377225"/>
            <a:ext cx="1079999" cy="61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Lesson: What is a computer network?</a:t>
            </a:r>
            <a:endParaRPr dirty="0"/>
          </a:p>
        </p:txBody>
      </p:sp>
      <p:sp>
        <p:nvSpPr>
          <p:cNvPr id="69" name="Google Shape;69;p12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Computer networks</a:t>
            </a:r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</a:t>
            </a:r>
            <a:r>
              <a:rPr lang="en-GB" b="1"/>
              <a:t> activity sheet</a:t>
            </a:r>
            <a:r>
              <a:rPr lang="en-GB"/>
              <a:t> contains a road network for a village. A runner wants to figure out how many routes they can take from their house (A) to the local shop (B).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runner doesn’t like to turn back on themselves and run down the same road twice. Your routes should </a:t>
            </a:r>
            <a:r>
              <a:rPr lang="en-GB" b="1"/>
              <a:t>avoid any dead ends</a:t>
            </a:r>
            <a:r>
              <a:rPr lang="en-GB"/>
              <a:t> that would require them to turn back. 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many routes are there?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82</a:t>
            </a:fld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1950" y="548075"/>
            <a:ext cx="24115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4">
            <a:alphaModFix/>
          </a:blip>
          <a:srcRect l="29" r="39"/>
          <a:stretch/>
        </p:blipFill>
        <p:spPr>
          <a:xfrm>
            <a:off x="4736600" y="1189326"/>
            <a:ext cx="4051049" cy="27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see examples of </a:t>
            </a:r>
            <a:r>
              <a:rPr lang="en-GB" b="1"/>
              <a:t>networks</a:t>
            </a:r>
            <a:r>
              <a:rPr lang="en-GB"/>
              <a:t> all around you. </a:t>
            </a:r>
            <a:r>
              <a:rPr lang="en-GB" b="1"/>
              <a:t>Transport networks</a:t>
            </a:r>
            <a:r>
              <a:rPr lang="en-GB"/>
              <a:t> can include routes for: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Trains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Trams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Boats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Planes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-GB"/>
              <a:t>Cars / Lorries</a:t>
            </a:r>
            <a:endParaRPr/>
          </a:p>
        </p:txBody>
      </p:sp>
      <p:sp>
        <p:nvSpPr>
          <p:cNvPr id="661" name="Google Shape;661;p3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 of networks</a:t>
            </a:r>
            <a:endParaRPr/>
          </a:p>
        </p:txBody>
      </p:sp>
      <p:sp>
        <p:nvSpPr>
          <p:cNvPr id="662" name="Google Shape;662;p3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83</a:t>
            </a:fld>
            <a:endParaRPr/>
          </a:p>
        </p:txBody>
      </p:sp>
      <p:sp>
        <p:nvSpPr>
          <p:cNvPr id="663" name="Google Shape;663;p3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664" name="Google Shape;66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6600" y="1170126"/>
            <a:ext cx="4096500" cy="27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see </a:t>
            </a:r>
            <a:r>
              <a:rPr lang="en-GB" b="1"/>
              <a:t>networks </a:t>
            </a:r>
            <a:r>
              <a:rPr lang="en-GB"/>
              <a:t>in </a:t>
            </a:r>
            <a:r>
              <a:rPr lang="en-GB" b="1"/>
              <a:t>businesses </a:t>
            </a:r>
            <a:r>
              <a:rPr lang="en-GB"/>
              <a:t>when you look at the hierarchy of roles in the company.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Everyone in a company is connected through line managers, directors, and executives. </a:t>
            </a:r>
            <a:endParaRPr/>
          </a:p>
        </p:txBody>
      </p:sp>
      <p:sp>
        <p:nvSpPr>
          <p:cNvPr id="670" name="Google Shape;670;p3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 of networks</a:t>
            </a:r>
            <a:endParaRPr/>
          </a:p>
        </p:txBody>
      </p:sp>
      <p:sp>
        <p:nvSpPr>
          <p:cNvPr id="671" name="Google Shape;671;p3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84</a:t>
            </a:fld>
            <a:endParaRPr/>
          </a:p>
        </p:txBody>
      </p:sp>
      <p:sp>
        <p:nvSpPr>
          <p:cNvPr id="672" name="Google Shape;672;p3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673" name="Google Shape;6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200" y="1017700"/>
            <a:ext cx="3707501" cy="2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8" name="Google Shape;678;p35"/>
          <p:cNvCxnSpPr>
            <a:stCxn id="679" idx="5"/>
            <a:endCxn id="680" idx="2"/>
          </p:cNvCxnSpPr>
          <p:nvPr/>
        </p:nvCxnSpPr>
        <p:spPr>
          <a:xfrm>
            <a:off x="6958468" y="2557568"/>
            <a:ext cx="1225800" cy="504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1" name="Google Shape;681;p3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Schools can also form </a:t>
            </a:r>
            <a:r>
              <a:rPr lang="en-GB" b="1"/>
              <a:t>networks </a:t>
            </a:r>
            <a:r>
              <a:rPr lang="en-GB"/>
              <a:t>when they join with other schools to share ideas and resources. </a:t>
            </a:r>
            <a:endParaRPr/>
          </a:p>
        </p:txBody>
      </p:sp>
      <p:sp>
        <p:nvSpPr>
          <p:cNvPr id="682" name="Google Shape;682;p3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 of networks</a:t>
            </a:r>
            <a:endParaRPr/>
          </a:p>
        </p:txBody>
      </p:sp>
      <p:sp>
        <p:nvSpPr>
          <p:cNvPr id="683" name="Google Shape;683;p3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85</a:t>
            </a:fld>
            <a:endParaRPr/>
          </a:p>
        </p:txBody>
      </p:sp>
      <p:sp>
        <p:nvSpPr>
          <p:cNvPr id="684" name="Google Shape;684;p3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685" name="Google Shape;685;p35"/>
          <p:cNvSpPr txBox="1"/>
          <p:nvPr/>
        </p:nvSpPr>
        <p:spPr>
          <a:xfrm>
            <a:off x="5257800" y="1337175"/>
            <a:ext cx="813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latin typeface="Quicksand"/>
                <a:ea typeface="Quicksand"/>
                <a:cs typeface="Quicksand"/>
                <a:sym typeface="Quicksand"/>
              </a:rPr>
              <a:t>🏫</a:t>
            </a:r>
            <a:endParaRPr sz="2700"/>
          </a:p>
        </p:txBody>
      </p:sp>
      <p:sp>
        <p:nvSpPr>
          <p:cNvPr id="686" name="Google Shape;686;p35"/>
          <p:cNvSpPr txBox="1"/>
          <p:nvPr/>
        </p:nvSpPr>
        <p:spPr>
          <a:xfrm>
            <a:off x="7307414" y="1121675"/>
            <a:ext cx="813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latin typeface="Quicksand"/>
                <a:ea typeface="Quicksand"/>
                <a:cs typeface="Quicksand"/>
                <a:sym typeface="Quicksand"/>
              </a:rPr>
              <a:t>🏫</a:t>
            </a:r>
            <a:endParaRPr sz="2700"/>
          </a:p>
        </p:txBody>
      </p:sp>
      <p:sp>
        <p:nvSpPr>
          <p:cNvPr id="687" name="Google Shape;687;p35"/>
          <p:cNvSpPr txBox="1"/>
          <p:nvPr/>
        </p:nvSpPr>
        <p:spPr>
          <a:xfrm>
            <a:off x="7896040" y="3049875"/>
            <a:ext cx="813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latin typeface="Quicksand"/>
                <a:ea typeface="Quicksand"/>
                <a:cs typeface="Quicksand"/>
                <a:sym typeface="Quicksand"/>
              </a:rPr>
              <a:t>🏫</a:t>
            </a:r>
            <a:endParaRPr sz="2700"/>
          </a:p>
        </p:txBody>
      </p:sp>
      <p:sp>
        <p:nvSpPr>
          <p:cNvPr id="688" name="Google Shape;688;p35"/>
          <p:cNvSpPr txBox="1"/>
          <p:nvPr/>
        </p:nvSpPr>
        <p:spPr>
          <a:xfrm>
            <a:off x="5428550" y="3129750"/>
            <a:ext cx="813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latin typeface="Quicksand"/>
                <a:ea typeface="Quicksand"/>
                <a:cs typeface="Quicksand"/>
                <a:sym typeface="Quicksand"/>
              </a:rPr>
              <a:t>🏫</a:t>
            </a:r>
            <a:endParaRPr sz="2700"/>
          </a:p>
        </p:txBody>
      </p:sp>
      <p:sp>
        <p:nvSpPr>
          <p:cNvPr id="689" name="Google Shape;689;p35"/>
          <p:cNvSpPr txBox="1"/>
          <p:nvPr/>
        </p:nvSpPr>
        <p:spPr>
          <a:xfrm>
            <a:off x="6712147" y="2321750"/>
            <a:ext cx="813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latin typeface="Quicksand"/>
                <a:ea typeface="Quicksand"/>
                <a:cs typeface="Quicksand"/>
                <a:sym typeface="Quicksand"/>
              </a:rPr>
              <a:t>🏫</a:t>
            </a:r>
            <a:endParaRPr sz="2700"/>
          </a:p>
        </p:txBody>
      </p:sp>
      <p:sp>
        <p:nvSpPr>
          <p:cNvPr id="690" name="Google Shape;690;p35"/>
          <p:cNvSpPr/>
          <p:nvPr/>
        </p:nvSpPr>
        <p:spPr>
          <a:xfrm>
            <a:off x="5936700" y="2045500"/>
            <a:ext cx="134400" cy="134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5"/>
          <p:cNvSpPr/>
          <p:nvPr/>
        </p:nvSpPr>
        <p:spPr>
          <a:xfrm>
            <a:off x="7469025" y="1851225"/>
            <a:ext cx="134400" cy="134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5"/>
          <p:cNvSpPr/>
          <p:nvPr/>
        </p:nvSpPr>
        <p:spPr>
          <a:xfrm>
            <a:off x="6036625" y="3241725"/>
            <a:ext cx="134400" cy="134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5"/>
          <p:cNvSpPr/>
          <p:nvPr/>
        </p:nvSpPr>
        <p:spPr>
          <a:xfrm>
            <a:off x="8184150" y="2995350"/>
            <a:ext cx="134400" cy="134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6843750" y="2442850"/>
            <a:ext cx="134400" cy="134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3" name="Google Shape;693;p35"/>
          <p:cNvCxnSpPr>
            <a:stCxn id="679" idx="1"/>
            <a:endCxn id="690" idx="6"/>
          </p:cNvCxnSpPr>
          <p:nvPr/>
        </p:nvCxnSpPr>
        <p:spPr>
          <a:xfrm rot="10800000">
            <a:off x="6071132" y="2112732"/>
            <a:ext cx="792300" cy="349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35"/>
          <p:cNvCxnSpPr>
            <a:stCxn id="679" idx="7"/>
            <a:endCxn id="691" idx="3"/>
          </p:cNvCxnSpPr>
          <p:nvPr/>
        </p:nvCxnSpPr>
        <p:spPr>
          <a:xfrm rot="10800000" flipH="1">
            <a:off x="6958468" y="1966032"/>
            <a:ext cx="530100" cy="496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35"/>
          <p:cNvCxnSpPr>
            <a:stCxn id="679" idx="3"/>
            <a:endCxn id="692" idx="7"/>
          </p:cNvCxnSpPr>
          <p:nvPr/>
        </p:nvCxnSpPr>
        <p:spPr>
          <a:xfrm flipH="1">
            <a:off x="6151232" y="2557568"/>
            <a:ext cx="712200" cy="70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35"/>
          <p:cNvCxnSpPr>
            <a:stCxn id="690" idx="4"/>
            <a:endCxn id="692" idx="1"/>
          </p:cNvCxnSpPr>
          <p:nvPr/>
        </p:nvCxnSpPr>
        <p:spPr>
          <a:xfrm>
            <a:off x="6003900" y="2179900"/>
            <a:ext cx="52500" cy="10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35"/>
          <p:cNvCxnSpPr>
            <a:stCxn id="690" idx="7"/>
            <a:endCxn id="691" idx="2"/>
          </p:cNvCxnSpPr>
          <p:nvPr/>
        </p:nvCxnSpPr>
        <p:spPr>
          <a:xfrm rot="10800000" flipH="1">
            <a:off x="6051418" y="1918482"/>
            <a:ext cx="1417500" cy="146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8" name="Google Shape;698;p35"/>
          <p:cNvCxnSpPr>
            <a:stCxn id="691" idx="5"/>
            <a:endCxn id="680" idx="1"/>
          </p:cNvCxnSpPr>
          <p:nvPr/>
        </p:nvCxnSpPr>
        <p:spPr>
          <a:xfrm>
            <a:off x="7583743" y="1965943"/>
            <a:ext cx="620100" cy="104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35"/>
          <p:cNvCxnSpPr>
            <a:stCxn id="692" idx="6"/>
            <a:endCxn id="680" idx="3"/>
          </p:cNvCxnSpPr>
          <p:nvPr/>
        </p:nvCxnSpPr>
        <p:spPr>
          <a:xfrm rot="10800000" flipH="1">
            <a:off x="6171025" y="3110025"/>
            <a:ext cx="2032800" cy="19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36"/>
          <p:cNvPicPr preferRelativeResize="0"/>
          <p:nvPr/>
        </p:nvPicPr>
        <p:blipFill rotWithShape="1">
          <a:blip r:embed="rId3">
            <a:alphaModFix/>
          </a:blip>
          <a:srcRect l="29" r="39"/>
          <a:stretch/>
        </p:blipFill>
        <p:spPr>
          <a:xfrm>
            <a:off x="4382923" y="891980"/>
            <a:ext cx="4745125" cy="3238547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networks can be visualised (drawn) using a </a:t>
            </a:r>
            <a:r>
              <a:rPr lang="en-GB" b="1"/>
              <a:t>graph</a:t>
            </a:r>
            <a:r>
              <a:rPr lang="en-GB"/>
              <a:t> made up of </a:t>
            </a:r>
            <a:r>
              <a:rPr lang="en-GB" b="1"/>
              <a:t>nodes </a:t>
            </a:r>
            <a:r>
              <a:rPr lang="en-GB"/>
              <a:t>and </a:t>
            </a:r>
            <a:r>
              <a:rPr lang="en-GB" b="1"/>
              <a:t>edges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Here is the village map again. </a:t>
            </a:r>
            <a:endParaRPr/>
          </a:p>
        </p:txBody>
      </p:sp>
      <p:sp>
        <p:nvSpPr>
          <p:cNvPr id="706" name="Google Shape;706;p3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 network</a:t>
            </a:r>
            <a:endParaRPr/>
          </a:p>
        </p:txBody>
      </p:sp>
      <p:sp>
        <p:nvSpPr>
          <p:cNvPr id="707" name="Google Shape;707;p3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86</a:t>
            </a:fld>
            <a:endParaRPr/>
          </a:p>
        </p:txBody>
      </p:sp>
      <p:sp>
        <p:nvSpPr>
          <p:cNvPr id="708" name="Google Shape;708;p3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38"/>
          <p:cNvPicPr preferRelativeResize="0"/>
          <p:nvPr/>
        </p:nvPicPr>
        <p:blipFill rotWithShape="1">
          <a:blip r:embed="rId3">
            <a:alphaModFix/>
          </a:blip>
          <a:srcRect l="29" r="39"/>
          <a:stretch/>
        </p:blipFill>
        <p:spPr>
          <a:xfrm>
            <a:off x="4382923" y="891980"/>
            <a:ext cx="4745125" cy="3238547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3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 b="1"/>
              <a:t>nodes </a:t>
            </a:r>
            <a:r>
              <a:rPr lang="en-GB"/>
              <a:t>are the circles and these represent the items that form the connections.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Nodes can be used to represent many things. You will discover more examples throughout this unit. </a:t>
            </a:r>
            <a:endParaRPr/>
          </a:p>
        </p:txBody>
      </p:sp>
      <p:sp>
        <p:nvSpPr>
          <p:cNvPr id="784" name="Google Shape;784;p3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 network</a:t>
            </a:r>
            <a:endParaRPr/>
          </a:p>
        </p:txBody>
      </p:sp>
      <p:sp>
        <p:nvSpPr>
          <p:cNvPr id="785" name="Google Shape;785;p3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87</a:t>
            </a:fld>
            <a:endParaRPr/>
          </a:p>
        </p:txBody>
      </p:sp>
      <p:sp>
        <p:nvSpPr>
          <p:cNvPr id="786" name="Google Shape;786;p3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787" name="Google Shape;787;p38"/>
          <p:cNvSpPr/>
          <p:nvPr/>
        </p:nvSpPr>
        <p:spPr>
          <a:xfrm>
            <a:off x="8306162" y="173356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8"/>
          <p:cNvSpPr/>
          <p:nvPr/>
        </p:nvSpPr>
        <p:spPr>
          <a:xfrm>
            <a:off x="8306162" y="2760642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8"/>
          <p:cNvSpPr/>
          <p:nvPr/>
        </p:nvSpPr>
        <p:spPr>
          <a:xfrm>
            <a:off x="6771861" y="3070218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8"/>
          <p:cNvSpPr/>
          <p:nvPr/>
        </p:nvSpPr>
        <p:spPr>
          <a:xfrm>
            <a:off x="6626038" y="262587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8"/>
          <p:cNvSpPr/>
          <p:nvPr/>
        </p:nvSpPr>
        <p:spPr>
          <a:xfrm>
            <a:off x="7000662" y="2502673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8"/>
          <p:cNvSpPr/>
          <p:nvPr/>
        </p:nvSpPr>
        <p:spPr>
          <a:xfrm>
            <a:off x="8306162" y="2350751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8"/>
          <p:cNvSpPr/>
          <p:nvPr/>
        </p:nvSpPr>
        <p:spPr>
          <a:xfrm>
            <a:off x="6550978" y="316898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8"/>
          <p:cNvSpPr/>
          <p:nvPr/>
        </p:nvSpPr>
        <p:spPr>
          <a:xfrm>
            <a:off x="6203000" y="364062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8"/>
          <p:cNvSpPr/>
          <p:nvPr/>
        </p:nvSpPr>
        <p:spPr>
          <a:xfrm>
            <a:off x="6102119" y="3139097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8306162" y="20032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8"/>
          <p:cNvSpPr/>
          <p:nvPr/>
        </p:nvSpPr>
        <p:spPr>
          <a:xfrm>
            <a:off x="7756047" y="20032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8"/>
          <p:cNvSpPr/>
          <p:nvPr/>
        </p:nvSpPr>
        <p:spPr>
          <a:xfrm>
            <a:off x="7721745" y="1572125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8"/>
          <p:cNvSpPr/>
          <p:nvPr/>
        </p:nvSpPr>
        <p:spPr>
          <a:xfrm>
            <a:off x="7278534" y="14085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8"/>
          <p:cNvSpPr/>
          <p:nvPr/>
        </p:nvSpPr>
        <p:spPr>
          <a:xfrm>
            <a:off x="6771861" y="1778135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8"/>
          <p:cNvSpPr/>
          <p:nvPr/>
        </p:nvSpPr>
        <p:spPr>
          <a:xfrm>
            <a:off x="5715241" y="230606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8"/>
          <p:cNvSpPr/>
          <p:nvPr/>
        </p:nvSpPr>
        <p:spPr>
          <a:xfrm>
            <a:off x="5420724" y="1507325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8"/>
          <p:cNvSpPr/>
          <p:nvPr/>
        </p:nvSpPr>
        <p:spPr>
          <a:xfrm>
            <a:off x="4791665" y="14733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8"/>
          <p:cNvSpPr/>
          <p:nvPr/>
        </p:nvSpPr>
        <p:spPr>
          <a:xfrm>
            <a:off x="5022869" y="2574473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8"/>
          <p:cNvSpPr/>
          <p:nvPr/>
        </p:nvSpPr>
        <p:spPr>
          <a:xfrm>
            <a:off x="5862227" y="2724650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8"/>
          <p:cNvSpPr/>
          <p:nvPr/>
        </p:nvSpPr>
        <p:spPr>
          <a:xfrm>
            <a:off x="6376951" y="2724650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8"/>
          <p:cNvSpPr/>
          <p:nvPr/>
        </p:nvSpPr>
        <p:spPr>
          <a:xfrm>
            <a:off x="5366043" y="3828451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8"/>
          <p:cNvSpPr/>
          <p:nvPr/>
        </p:nvSpPr>
        <p:spPr>
          <a:xfrm>
            <a:off x="5265162" y="3469618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8"/>
          <p:cNvSpPr/>
          <p:nvPr/>
        </p:nvSpPr>
        <p:spPr>
          <a:xfrm>
            <a:off x="5715241" y="3353688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8"/>
          <p:cNvSpPr/>
          <p:nvPr/>
        </p:nvSpPr>
        <p:spPr>
          <a:xfrm>
            <a:off x="4690785" y="3678017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8"/>
          <p:cNvSpPr/>
          <p:nvPr/>
        </p:nvSpPr>
        <p:spPr>
          <a:xfrm>
            <a:off x="8407043" y="370401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8"/>
          <p:cNvSpPr/>
          <p:nvPr/>
        </p:nvSpPr>
        <p:spPr>
          <a:xfrm>
            <a:off x="8205281" y="114874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8"/>
          <p:cNvSpPr/>
          <p:nvPr/>
        </p:nvSpPr>
        <p:spPr>
          <a:xfrm>
            <a:off x="8507937" y="173358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Google Shape;818;p39"/>
          <p:cNvPicPr preferRelativeResize="0"/>
          <p:nvPr/>
        </p:nvPicPr>
        <p:blipFill rotWithShape="1">
          <a:blip r:embed="rId3">
            <a:alphaModFix/>
          </a:blip>
          <a:srcRect l="29" r="39"/>
          <a:stretch/>
        </p:blipFill>
        <p:spPr>
          <a:xfrm>
            <a:off x="4382923" y="891980"/>
            <a:ext cx="4745125" cy="3238547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3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The </a:t>
            </a:r>
            <a:r>
              <a:rPr lang="en-GB" b="1"/>
              <a:t>edges</a:t>
            </a:r>
            <a:r>
              <a:rPr lang="en-GB"/>
              <a:t> are the lines between the nodes and these represent the connections. </a:t>
            </a:r>
            <a:endParaRPr/>
          </a:p>
        </p:txBody>
      </p:sp>
      <p:sp>
        <p:nvSpPr>
          <p:cNvPr id="820" name="Google Shape;820;p3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 network</a:t>
            </a:r>
            <a:endParaRPr/>
          </a:p>
        </p:txBody>
      </p:sp>
      <p:sp>
        <p:nvSpPr>
          <p:cNvPr id="821" name="Google Shape;821;p3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88</a:t>
            </a:fld>
            <a:endParaRPr/>
          </a:p>
        </p:txBody>
      </p:sp>
      <p:sp>
        <p:nvSpPr>
          <p:cNvPr id="822" name="Google Shape;822;p3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cxnSp>
        <p:nvCxnSpPr>
          <p:cNvPr id="823" name="Google Shape;823;p39"/>
          <p:cNvCxnSpPr>
            <a:stCxn id="824" idx="1"/>
            <a:endCxn id="825" idx="6"/>
          </p:cNvCxnSpPr>
          <p:nvPr/>
        </p:nvCxnSpPr>
        <p:spPr>
          <a:xfrm rot="10800000">
            <a:off x="7822624" y="1621418"/>
            <a:ext cx="498300" cy="126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6" name="Google Shape;826;p39"/>
          <p:cNvCxnSpPr>
            <a:stCxn id="824" idx="4"/>
            <a:endCxn id="827" idx="0"/>
          </p:cNvCxnSpPr>
          <p:nvPr/>
        </p:nvCxnSpPr>
        <p:spPr>
          <a:xfrm>
            <a:off x="8356562" y="1832264"/>
            <a:ext cx="0" cy="17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p39"/>
          <p:cNvCxnSpPr>
            <a:stCxn id="827" idx="4"/>
            <a:endCxn id="829" idx="0"/>
          </p:cNvCxnSpPr>
          <p:nvPr/>
        </p:nvCxnSpPr>
        <p:spPr>
          <a:xfrm>
            <a:off x="8356562" y="2101954"/>
            <a:ext cx="0" cy="24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0" name="Google Shape;830;p39"/>
          <p:cNvCxnSpPr>
            <a:stCxn id="829" idx="4"/>
            <a:endCxn id="831" idx="0"/>
          </p:cNvCxnSpPr>
          <p:nvPr/>
        </p:nvCxnSpPr>
        <p:spPr>
          <a:xfrm>
            <a:off x="8356562" y="2449451"/>
            <a:ext cx="0" cy="31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2" name="Google Shape;832;p39"/>
          <p:cNvCxnSpPr>
            <a:stCxn id="831" idx="2"/>
            <a:endCxn id="833" idx="6"/>
          </p:cNvCxnSpPr>
          <p:nvPr/>
        </p:nvCxnSpPr>
        <p:spPr>
          <a:xfrm flipH="1">
            <a:off x="6872762" y="2809992"/>
            <a:ext cx="1433400" cy="309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4" name="Google Shape;834;p39"/>
          <p:cNvCxnSpPr>
            <a:stCxn id="825" idx="4"/>
            <a:endCxn id="835" idx="0"/>
          </p:cNvCxnSpPr>
          <p:nvPr/>
        </p:nvCxnSpPr>
        <p:spPr>
          <a:xfrm>
            <a:off x="7772145" y="1670825"/>
            <a:ext cx="34200" cy="332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6" name="Google Shape;836;p39"/>
          <p:cNvCxnSpPr>
            <a:stCxn id="835" idx="6"/>
            <a:endCxn id="827" idx="2"/>
          </p:cNvCxnSpPr>
          <p:nvPr/>
        </p:nvCxnSpPr>
        <p:spPr>
          <a:xfrm>
            <a:off x="7856847" y="2052604"/>
            <a:ext cx="44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7" name="Google Shape;837;p39"/>
          <p:cNvCxnSpPr>
            <a:stCxn id="825" idx="1"/>
            <a:endCxn id="838" idx="6"/>
          </p:cNvCxnSpPr>
          <p:nvPr/>
        </p:nvCxnSpPr>
        <p:spPr>
          <a:xfrm rot="10800000">
            <a:off x="7379207" y="1457879"/>
            <a:ext cx="357300" cy="12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9" name="Google Shape;839;p39"/>
          <p:cNvCxnSpPr>
            <a:stCxn id="838" idx="1"/>
            <a:endCxn id="840" idx="6"/>
          </p:cNvCxnSpPr>
          <p:nvPr/>
        </p:nvCxnSpPr>
        <p:spPr>
          <a:xfrm rot="10800000">
            <a:off x="6426296" y="1148809"/>
            <a:ext cx="867000" cy="27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1" name="Google Shape;841;p39"/>
          <p:cNvCxnSpPr>
            <a:stCxn id="838" idx="3"/>
            <a:endCxn id="842" idx="7"/>
          </p:cNvCxnSpPr>
          <p:nvPr/>
        </p:nvCxnSpPr>
        <p:spPr>
          <a:xfrm flipH="1">
            <a:off x="6857996" y="1492800"/>
            <a:ext cx="435300" cy="29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39"/>
          <p:cNvCxnSpPr>
            <a:stCxn id="842" idx="4"/>
            <a:endCxn id="844" idx="1"/>
          </p:cNvCxnSpPr>
          <p:nvPr/>
        </p:nvCxnSpPr>
        <p:spPr>
          <a:xfrm>
            <a:off x="6822261" y="1876835"/>
            <a:ext cx="193200" cy="640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39"/>
          <p:cNvCxnSpPr>
            <a:stCxn id="844" idx="6"/>
            <a:endCxn id="829" idx="2"/>
          </p:cNvCxnSpPr>
          <p:nvPr/>
        </p:nvCxnSpPr>
        <p:spPr>
          <a:xfrm rot="10800000" flipH="1">
            <a:off x="7101462" y="2400223"/>
            <a:ext cx="1204800" cy="15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" name="Google Shape;846;p39"/>
          <p:cNvCxnSpPr>
            <a:stCxn id="844" idx="3"/>
            <a:endCxn id="847" idx="6"/>
          </p:cNvCxnSpPr>
          <p:nvPr/>
        </p:nvCxnSpPr>
        <p:spPr>
          <a:xfrm flipH="1">
            <a:off x="6726824" y="2586919"/>
            <a:ext cx="288600" cy="8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8" name="Google Shape;848;p39"/>
          <p:cNvCxnSpPr>
            <a:stCxn id="847" idx="4"/>
            <a:endCxn id="833" idx="0"/>
          </p:cNvCxnSpPr>
          <p:nvPr/>
        </p:nvCxnSpPr>
        <p:spPr>
          <a:xfrm>
            <a:off x="6676438" y="2724579"/>
            <a:ext cx="145800" cy="345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9" name="Google Shape;849;p39"/>
          <p:cNvCxnSpPr>
            <a:stCxn id="850" idx="2"/>
            <a:endCxn id="851" idx="6"/>
          </p:cNvCxnSpPr>
          <p:nvPr/>
        </p:nvCxnSpPr>
        <p:spPr>
          <a:xfrm rot="10800000">
            <a:off x="6202978" y="3188339"/>
            <a:ext cx="348000" cy="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2" name="Google Shape;852;p39"/>
          <p:cNvCxnSpPr>
            <a:stCxn id="850" idx="4"/>
            <a:endCxn id="853" idx="7"/>
          </p:cNvCxnSpPr>
          <p:nvPr/>
        </p:nvCxnSpPr>
        <p:spPr>
          <a:xfrm flipH="1">
            <a:off x="6289078" y="3267689"/>
            <a:ext cx="312300" cy="387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4" name="Google Shape;854;p39"/>
          <p:cNvCxnSpPr>
            <a:stCxn id="842" idx="2"/>
            <a:endCxn id="855" idx="6"/>
          </p:cNvCxnSpPr>
          <p:nvPr/>
        </p:nvCxnSpPr>
        <p:spPr>
          <a:xfrm flipH="1">
            <a:off x="5816061" y="1827485"/>
            <a:ext cx="955800" cy="52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6" name="Google Shape;856;p39"/>
          <p:cNvCxnSpPr>
            <a:stCxn id="855" idx="1"/>
            <a:endCxn id="857" idx="4"/>
          </p:cNvCxnSpPr>
          <p:nvPr/>
        </p:nvCxnSpPr>
        <p:spPr>
          <a:xfrm rot="10800000">
            <a:off x="5471103" y="1605924"/>
            <a:ext cx="258900" cy="714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8" name="Google Shape;858;p39"/>
          <p:cNvCxnSpPr>
            <a:stCxn id="857" idx="2"/>
            <a:endCxn id="859" idx="6"/>
          </p:cNvCxnSpPr>
          <p:nvPr/>
        </p:nvCxnSpPr>
        <p:spPr>
          <a:xfrm rot="10800000">
            <a:off x="4892424" y="1522775"/>
            <a:ext cx="528300" cy="33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0" name="Google Shape;860;p39"/>
          <p:cNvCxnSpPr>
            <a:stCxn id="855" idx="3"/>
            <a:endCxn id="861" idx="6"/>
          </p:cNvCxnSpPr>
          <p:nvPr/>
        </p:nvCxnSpPr>
        <p:spPr>
          <a:xfrm flipH="1">
            <a:off x="5123703" y="2390315"/>
            <a:ext cx="606300" cy="2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2" name="Google Shape;862;p39"/>
          <p:cNvCxnSpPr>
            <a:stCxn id="861" idx="4"/>
            <a:endCxn id="863" idx="1"/>
          </p:cNvCxnSpPr>
          <p:nvPr/>
        </p:nvCxnSpPr>
        <p:spPr>
          <a:xfrm>
            <a:off x="5073269" y="2673173"/>
            <a:ext cx="206700" cy="8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4" name="Google Shape;864;p39"/>
          <p:cNvCxnSpPr>
            <a:stCxn id="865" idx="6"/>
            <a:endCxn id="863" idx="3"/>
          </p:cNvCxnSpPr>
          <p:nvPr/>
        </p:nvCxnSpPr>
        <p:spPr>
          <a:xfrm rot="10800000" flipH="1">
            <a:off x="4791585" y="3553967"/>
            <a:ext cx="488400" cy="17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6" name="Google Shape;866;p39"/>
          <p:cNvCxnSpPr>
            <a:stCxn id="863" idx="4"/>
            <a:endCxn id="867" idx="1"/>
          </p:cNvCxnSpPr>
          <p:nvPr/>
        </p:nvCxnSpPr>
        <p:spPr>
          <a:xfrm>
            <a:off x="5315562" y="3568318"/>
            <a:ext cx="65100" cy="27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8" name="Google Shape;868;p39"/>
          <p:cNvCxnSpPr>
            <a:stCxn id="863" idx="6"/>
            <a:endCxn id="869" idx="3"/>
          </p:cNvCxnSpPr>
          <p:nvPr/>
        </p:nvCxnSpPr>
        <p:spPr>
          <a:xfrm rot="10800000" flipH="1">
            <a:off x="5365962" y="3437968"/>
            <a:ext cx="363900" cy="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0" name="Google Shape;870;p39"/>
          <p:cNvCxnSpPr>
            <a:stCxn id="855" idx="5"/>
            <a:endCxn id="871" idx="1"/>
          </p:cNvCxnSpPr>
          <p:nvPr/>
        </p:nvCxnSpPr>
        <p:spPr>
          <a:xfrm>
            <a:off x="5801389" y="2390204"/>
            <a:ext cx="75600" cy="34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2" name="Google Shape;872;p39"/>
          <p:cNvCxnSpPr>
            <a:stCxn id="871" idx="6"/>
            <a:endCxn id="873" idx="2"/>
          </p:cNvCxnSpPr>
          <p:nvPr/>
        </p:nvCxnSpPr>
        <p:spPr>
          <a:xfrm>
            <a:off x="5963027" y="2774000"/>
            <a:ext cx="41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4" name="Google Shape;874;p39"/>
          <p:cNvCxnSpPr>
            <a:stCxn id="875" idx="4"/>
            <a:endCxn id="824" idx="0"/>
          </p:cNvCxnSpPr>
          <p:nvPr/>
        </p:nvCxnSpPr>
        <p:spPr>
          <a:xfrm>
            <a:off x="8255681" y="1247449"/>
            <a:ext cx="100800" cy="486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39"/>
          <p:cNvCxnSpPr>
            <a:stCxn id="831" idx="4"/>
            <a:endCxn id="877" idx="0"/>
          </p:cNvCxnSpPr>
          <p:nvPr/>
        </p:nvCxnSpPr>
        <p:spPr>
          <a:xfrm>
            <a:off x="8356562" y="2859342"/>
            <a:ext cx="100800" cy="844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39"/>
          <p:cNvCxnSpPr>
            <a:stCxn id="824" idx="6"/>
            <a:endCxn id="879" idx="2"/>
          </p:cNvCxnSpPr>
          <p:nvPr/>
        </p:nvCxnSpPr>
        <p:spPr>
          <a:xfrm>
            <a:off x="8406962" y="1782914"/>
            <a:ext cx="101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39"/>
          <p:cNvCxnSpPr>
            <a:stCxn id="853" idx="3"/>
            <a:endCxn id="867" idx="6"/>
          </p:cNvCxnSpPr>
          <p:nvPr/>
        </p:nvCxnSpPr>
        <p:spPr>
          <a:xfrm flipH="1">
            <a:off x="5466861" y="3724875"/>
            <a:ext cx="750900" cy="15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39"/>
          <p:cNvCxnSpPr/>
          <p:nvPr/>
        </p:nvCxnSpPr>
        <p:spPr>
          <a:xfrm>
            <a:off x="4806427" y="1557600"/>
            <a:ext cx="231300" cy="103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computer network</a:t>
            </a:r>
            <a:r>
              <a:rPr lang="en-GB"/>
              <a:t> is more than one computer connected together and able to share resources.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You can represent </a:t>
            </a:r>
            <a:r>
              <a:rPr lang="en-GB" b="1"/>
              <a:t>computer networks</a:t>
            </a:r>
            <a:r>
              <a:rPr lang="en-GB"/>
              <a:t> using </a:t>
            </a:r>
            <a:r>
              <a:rPr lang="en-GB" b="1"/>
              <a:t>graphs </a:t>
            </a:r>
            <a:r>
              <a:rPr lang="en-GB"/>
              <a:t>like these too. </a:t>
            </a:r>
            <a:endParaRPr/>
          </a:p>
        </p:txBody>
      </p:sp>
      <p:sp>
        <p:nvSpPr>
          <p:cNvPr id="887" name="Google Shape;887;p4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computer network</a:t>
            </a:r>
            <a:endParaRPr/>
          </a:p>
        </p:txBody>
      </p:sp>
      <p:sp>
        <p:nvSpPr>
          <p:cNvPr id="888" name="Google Shape;888;p4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89</a:t>
            </a:fld>
            <a:endParaRPr/>
          </a:p>
        </p:txBody>
      </p:sp>
      <p:sp>
        <p:nvSpPr>
          <p:cNvPr id="889" name="Google Shape;889;p4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890" name="Google Shape;890;p40"/>
          <p:cNvSpPr/>
          <p:nvPr/>
        </p:nvSpPr>
        <p:spPr>
          <a:xfrm>
            <a:off x="8306162" y="173356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40"/>
          <p:cNvSpPr/>
          <p:nvPr/>
        </p:nvSpPr>
        <p:spPr>
          <a:xfrm>
            <a:off x="8306162" y="2760642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40"/>
          <p:cNvSpPr/>
          <p:nvPr/>
        </p:nvSpPr>
        <p:spPr>
          <a:xfrm>
            <a:off x="6771861" y="3070218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40"/>
          <p:cNvSpPr/>
          <p:nvPr/>
        </p:nvSpPr>
        <p:spPr>
          <a:xfrm>
            <a:off x="6626038" y="262587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40"/>
          <p:cNvSpPr/>
          <p:nvPr/>
        </p:nvSpPr>
        <p:spPr>
          <a:xfrm>
            <a:off x="7000662" y="2502673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40"/>
          <p:cNvSpPr/>
          <p:nvPr/>
        </p:nvSpPr>
        <p:spPr>
          <a:xfrm>
            <a:off x="8306162" y="2350751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40"/>
          <p:cNvSpPr/>
          <p:nvPr/>
        </p:nvSpPr>
        <p:spPr>
          <a:xfrm>
            <a:off x="6550978" y="316898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40"/>
          <p:cNvSpPr/>
          <p:nvPr/>
        </p:nvSpPr>
        <p:spPr>
          <a:xfrm>
            <a:off x="6203000" y="364062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40"/>
          <p:cNvSpPr/>
          <p:nvPr/>
        </p:nvSpPr>
        <p:spPr>
          <a:xfrm>
            <a:off x="6102119" y="3139097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40"/>
          <p:cNvSpPr/>
          <p:nvPr/>
        </p:nvSpPr>
        <p:spPr>
          <a:xfrm>
            <a:off x="8306162" y="20032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40"/>
          <p:cNvSpPr/>
          <p:nvPr/>
        </p:nvSpPr>
        <p:spPr>
          <a:xfrm>
            <a:off x="7756047" y="20032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40"/>
          <p:cNvSpPr/>
          <p:nvPr/>
        </p:nvSpPr>
        <p:spPr>
          <a:xfrm>
            <a:off x="7721745" y="1572125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40"/>
          <p:cNvSpPr/>
          <p:nvPr/>
        </p:nvSpPr>
        <p:spPr>
          <a:xfrm>
            <a:off x="7278534" y="14085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40"/>
          <p:cNvSpPr/>
          <p:nvPr/>
        </p:nvSpPr>
        <p:spPr>
          <a:xfrm>
            <a:off x="6325516" y="1099400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40"/>
          <p:cNvSpPr/>
          <p:nvPr/>
        </p:nvSpPr>
        <p:spPr>
          <a:xfrm>
            <a:off x="6771861" y="1778135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0"/>
          <p:cNvSpPr/>
          <p:nvPr/>
        </p:nvSpPr>
        <p:spPr>
          <a:xfrm>
            <a:off x="5715241" y="230606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40"/>
          <p:cNvSpPr/>
          <p:nvPr/>
        </p:nvSpPr>
        <p:spPr>
          <a:xfrm>
            <a:off x="5420724" y="1507325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0"/>
          <p:cNvSpPr/>
          <p:nvPr/>
        </p:nvSpPr>
        <p:spPr>
          <a:xfrm>
            <a:off x="4791665" y="147335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0"/>
          <p:cNvSpPr/>
          <p:nvPr/>
        </p:nvSpPr>
        <p:spPr>
          <a:xfrm>
            <a:off x="5022869" y="2574473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40"/>
          <p:cNvSpPr/>
          <p:nvPr/>
        </p:nvSpPr>
        <p:spPr>
          <a:xfrm>
            <a:off x="5862227" y="2724650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40"/>
          <p:cNvSpPr/>
          <p:nvPr/>
        </p:nvSpPr>
        <p:spPr>
          <a:xfrm>
            <a:off x="6376951" y="2724650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40"/>
          <p:cNvSpPr/>
          <p:nvPr/>
        </p:nvSpPr>
        <p:spPr>
          <a:xfrm>
            <a:off x="5366043" y="3828451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40"/>
          <p:cNvSpPr/>
          <p:nvPr/>
        </p:nvSpPr>
        <p:spPr>
          <a:xfrm>
            <a:off x="5265162" y="3469618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40"/>
          <p:cNvSpPr/>
          <p:nvPr/>
        </p:nvSpPr>
        <p:spPr>
          <a:xfrm>
            <a:off x="5715241" y="3353688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0"/>
          <p:cNvSpPr/>
          <p:nvPr/>
        </p:nvSpPr>
        <p:spPr>
          <a:xfrm>
            <a:off x="4690785" y="3678017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15" name="Google Shape;915;p40"/>
          <p:cNvCxnSpPr>
            <a:stCxn id="890" idx="1"/>
            <a:endCxn id="901" idx="6"/>
          </p:cNvCxnSpPr>
          <p:nvPr/>
        </p:nvCxnSpPr>
        <p:spPr>
          <a:xfrm rot="10800000">
            <a:off x="7822624" y="1621418"/>
            <a:ext cx="498300" cy="126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40"/>
          <p:cNvCxnSpPr>
            <a:stCxn id="890" idx="4"/>
            <a:endCxn id="899" idx="0"/>
          </p:cNvCxnSpPr>
          <p:nvPr/>
        </p:nvCxnSpPr>
        <p:spPr>
          <a:xfrm>
            <a:off x="8356562" y="1832264"/>
            <a:ext cx="0" cy="17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40"/>
          <p:cNvCxnSpPr>
            <a:stCxn id="899" idx="4"/>
            <a:endCxn id="895" idx="0"/>
          </p:cNvCxnSpPr>
          <p:nvPr/>
        </p:nvCxnSpPr>
        <p:spPr>
          <a:xfrm>
            <a:off x="8356562" y="2101954"/>
            <a:ext cx="0" cy="24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40"/>
          <p:cNvCxnSpPr>
            <a:stCxn id="895" idx="4"/>
            <a:endCxn id="891" idx="0"/>
          </p:cNvCxnSpPr>
          <p:nvPr/>
        </p:nvCxnSpPr>
        <p:spPr>
          <a:xfrm>
            <a:off x="8356562" y="2449451"/>
            <a:ext cx="0" cy="31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9" name="Google Shape;919;p40"/>
          <p:cNvCxnSpPr>
            <a:stCxn id="891" idx="2"/>
            <a:endCxn id="892" idx="6"/>
          </p:cNvCxnSpPr>
          <p:nvPr/>
        </p:nvCxnSpPr>
        <p:spPr>
          <a:xfrm flipH="1">
            <a:off x="6872762" y="2809992"/>
            <a:ext cx="1433400" cy="309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0" name="Google Shape;920;p40"/>
          <p:cNvCxnSpPr>
            <a:stCxn id="901" idx="4"/>
            <a:endCxn id="900" idx="0"/>
          </p:cNvCxnSpPr>
          <p:nvPr/>
        </p:nvCxnSpPr>
        <p:spPr>
          <a:xfrm>
            <a:off x="7772145" y="1670825"/>
            <a:ext cx="34200" cy="332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1" name="Google Shape;921;p40"/>
          <p:cNvCxnSpPr>
            <a:stCxn id="900" idx="6"/>
            <a:endCxn id="899" idx="2"/>
          </p:cNvCxnSpPr>
          <p:nvPr/>
        </p:nvCxnSpPr>
        <p:spPr>
          <a:xfrm>
            <a:off x="7856847" y="2052604"/>
            <a:ext cx="44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2" name="Google Shape;922;p40"/>
          <p:cNvCxnSpPr>
            <a:stCxn id="901" idx="1"/>
            <a:endCxn id="902" idx="6"/>
          </p:cNvCxnSpPr>
          <p:nvPr/>
        </p:nvCxnSpPr>
        <p:spPr>
          <a:xfrm rot="10800000">
            <a:off x="7379207" y="1457879"/>
            <a:ext cx="357300" cy="12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3" name="Google Shape;923;p40"/>
          <p:cNvCxnSpPr>
            <a:stCxn id="902" idx="1"/>
            <a:endCxn id="903" idx="6"/>
          </p:cNvCxnSpPr>
          <p:nvPr/>
        </p:nvCxnSpPr>
        <p:spPr>
          <a:xfrm rot="10800000">
            <a:off x="6426296" y="1148809"/>
            <a:ext cx="867000" cy="27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4" name="Google Shape;924;p40"/>
          <p:cNvCxnSpPr>
            <a:stCxn id="902" idx="3"/>
            <a:endCxn id="904" idx="7"/>
          </p:cNvCxnSpPr>
          <p:nvPr/>
        </p:nvCxnSpPr>
        <p:spPr>
          <a:xfrm flipH="1">
            <a:off x="6857996" y="1492800"/>
            <a:ext cx="435300" cy="29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5" name="Google Shape;925;p40"/>
          <p:cNvCxnSpPr>
            <a:stCxn id="904" idx="4"/>
            <a:endCxn id="894" idx="1"/>
          </p:cNvCxnSpPr>
          <p:nvPr/>
        </p:nvCxnSpPr>
        <p:spPr>
          <a:xfrm>
            <a:off x="6822261" y="1876835"/>
            <a:ext cx="193200" cy="640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6" name="Google Shape;926;p40"/>
          <p:cNvCxnSpPr>
            <a:stCxn id="894" idx="6"/>
            <a:endCxn id="895" idx="2"/>
          </p:cNvCxnSpPr>
          <p:nvPr/>
        </p:nvCxnSpPr>
        <p:spPr>
          <a:xfrm rot="10800000" flipH="1">
            <a:off x="7101462" y="2400223"/>
            <a:ext cx="1204800" cy="15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7" name="Google Shape;927;p40"/>
          <p:cNvCxnSpPr>
            <a:stCxn id="894" idx="3"/>
            <a:endCxn id="893" idx="6"/>
          </p:cNvCxnSpPr>
          <p:nvPr/>
        </p:nvCxnSpPr>
        <p:spPr>
          <a:xfrm flipH="1">
            <a:off x="6726824" y="2586919"/>
            <a:ext cx="288600" cy="8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8" name="Google Shape;928;p40"/>
          <p:cNvCxnSpPr>
            <a:stCxn id="893" idx="4"/>
            <a:endCxn id="892" idx="0"/>
          </p:cNvCxnSpPr>
          <p:nvPr/>
        </p:nvCxnSpPr>
        <p:spPr>
          <a:xfrm>
            <a:off x="6676438" y="2724579"/>
            <a:ext cx="145800" cy="345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9" name="Google Shape;929;p40"/>
          <p:cNvCxnSpPr>
            <a:stCxn id="892" idx="2"/>
            <a:endCxn id="896" idx="7"/>
          </p:cNvCxnSpPr>
          <p:nvPr/>
        </p:nvCxnSpPr>
        <p:spPr>
          <a:xfrm flipH="1">
            <a:off x="6637161" y="3119568"/>
            <a:ext cx="134700" cy="63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0" name="Google Shape;930;p40"/>
          <p:cNvCxnSpPr>
            <a:stCxn id="896" idx="2"/>
            <a:endCxn id="898" idx="6"/>
          </p:cNvCxnSpPr>
          <p:nvPr/>
        </p:nvCxnSpPr>
        <p:spPr>
          <a:xfrm rot="10800000">
            <a:off x="6202978" y="3188339"/>
            <a:ext cx="348000" cy="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1" name="Google Shape;931;p40"/>
          <p:cNvCxnSpPr>
            <a:stCxn id="896" idx="4"/>
            <a:endCxn id="897" idx="7"/>
          </p:cNvCxnSpPr>
          <p:nvPr/>
        </p:nvCxnSpPr>
        <p:spPr>
          <a:xfrm flipH="1">
            <a:off x="6289078" y="3267689"/>
            <a:ext cx="312300" cy="387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2" name="Google Shape;932;p40"/>
          <p:cNvCxnSpPr>
            <a:stCxn id="904" idx="2"/>
            <a:endCxn id="905" idx="6"/>
          </p:cNvCxnSpPr>
          <p:nvPr/>
        </p:nvCxnSpPr>
        <p:spPr>
          <a:xfrm flipH="1">
            <a:off x="5816061" y="1827485"/>
            <a:ext cx="955800" cy="52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3" name="Google Shape;933;p40"/>
          <p:cNvCxnSpPr>
            <a:stCxn id="905" idx="1"/>
            <a:endCxn id="906" idx="4"/>
          </p:cNvCxnSpPr>
          <p:nvPr/>
        </p:nvCxnSpPr>
        <p:spPr>
          <a:xfrm rot="10800000">
            <a:off x="5471103" y="1605924"/>
            <a:ext cx="258900" cy="714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4" name="Google Shape;934;p40"/>
          <p:cNvCxnSpPr>
            <a:stCxn id="906" idx="2"/>
            <a:endCxn id="907" idx="6"/>
          </p:cNvCxnSpPr>
          <p:nvPr/>
        </p:nvCxnSpPr>
        <p:spPr>
          <a:xfrm rot="10800000">
            <a:off x="4892424" y="1522775"/>
            <a:ext cx="528300" cy="33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5" name="Google Shape;935;p40"/>
          <p:cNvCxnSpPr>
            <a:stCxn id="905" idx="3"/>
            <a:endCxn id="908" idx="6"/>
          </p:cNvCxnSpPr>
          <p:nvPr/>
        </p:nvCxnSpPr>
        <p:spPr>
          <a:xfrm flipH="1">
            <a:off x="5123703" y="2390315"/>
            <a:ext cx="606300" cy="2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6" name="Google Shape;936;p40"/>
          <p:cNvCxnSpPr>
            <a:stCxn id="908" idx="4"/>
            <a:endCxn id="912" idx="1"/>
          </p:cNvCxnSpPr>
          <p:nvPr/>
        </p:nvCxnSpPr>
        <p:spPr>
          <a:xfrm>
            <a:off x="5073269" y="2673173"/>
            <a:ext cx="206700" cy="8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7" name="Google Shape;937;p40"/>
          <p:cNvCxnSpPr>
            <a:stCxn id="914" idx="6"/>
            <a:endCxn id="912" idx="3"/>
          </p:cNvCxnSpPr>
          <p:nvPr/>
        </p:nvCxnSpPr>
        <p:spPr>
          <a:xfrm rot="10800000" flipH="1">
            <a:off x="4791585" y="3553967"/>
            <a:ext cx="488400" cy="17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8" name="Google Shape;938;p40"/>
          <p:cNvCxnSpPr>
            <a:stCxn id="912" idx="4"/>
            <a:endCxn id="911" idx="1"/>
          </p:cNvCxnSpPr>
          <p:nvPr/>
        </p:nvCxnSpPr>
        <p:spPr>
          <a:xfrm>
            <a:off x="5315562" y="3568318"/>
            <a:ext cx="65100" cy="27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9" name="Google Shape;939;p40"/>
          <p:cNvCxnSpPr>
            <a:stCxn id="912" idx="6"/>
            <a:endCxn id="913" idx="3"/>
          </p:cNvCxnSpPr>
          <p:nvPr/>
        </p:nvCxnSpPr>
        <p:spPr>
          <a:xfrm rot="10800000" flipH="1">
            <a:off x="5365962" y="3437968"/>
            <a:ext cx="363900" cy="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0" name="Google Shape;940;p40"/>
          <p:cNvCxnSpPr>
            <a:stCxn id="905" idx="5"/>
            <a:endCxn id="909" idx="1"/>
          </p:cNvCxnSpPr>
          <p:nvPr/>
        </p:nvCxnSpPr>
        <p:spPr>
          <a:xfrm>
            <a:off x="5801279" y="2390315"/>
            <a:ext cx="75600" cy="34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1" name="Google Shape;941;p40"/>
          <p:cNvCxnSpPr>
            <a:stCxn id="909" idx="6"/>
            <a:endCxn id="910" idx="2"/>
          </p:cNvCxnSpPr>
          <p:nvPr/>
        </p:nvCxnSpPr>
        <p:spPr>
          <a:xfrm>
            <a:off x="5963027" y="2774000"/>
            <a:ext cx="41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2" name="Google Shape;942;p40"/>
          <p:cNvSpPr/>
          <p:nvPr/>
        </p:nvSpPr>
        <p:spPr>
          <a:xfrm>
            <a:off x="8407043" y="3704014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40"/>
          <p:cNvSpPr/>
          <p:nvPr/>
        </p:nvSpPr>
        <p:spPr>
          <a:xfrm>
            <a:off x="8205281" y="114874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4" name="Google Shape;944;p40"/>
          <p:cNvCxnSpPr>
            <a:stCxn id="943" idx="4"/>
            <a:endCxn id="890" idx="0"/>
          </p:cNvCxnSpPr>
          <p:nvPr/>
        </p:nvCxnSpPr>
        <p:spPr>
          <a:xfrm>
            <a:off x="8255681" y="1247449"/>
            <a:ext cx="100800" cy="486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5" name="Google Shape;945;p40"/>
          <p:cNvCxnSpPr>
            <a:stCxn id="891" idx="4"/>
            <a:endCxn id="942" idx="0"/>
          </p:cNvCxnSpPr>
          <p:nvPr/>
        </p:nvCxnSpPr>
        <p:spPr>
          <a:xfrm>
            <a:off x="8356562" y="2859342"/>
            <a:ext cx="100800" cy="844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6" name="Google Shape;946;p40"/>
          <p:cNvSpPr/>
          <p:nvPr/>
        </p:nvSpPr>
        <p:spPr>
          <a:xfrm>
            <a:off x="8507937" y="1733589"/>
            <a:ext cx="100800" cy="98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7" name="Google Shape;947;p40"/>
          <p:cNvCxnSpPr>
            <a:stCxn id="890" idx="6"/>
            <a:endCxn id="946" idx="2"/>
          </p:cNvCxnSpPr>
          <p:nvPr/>
        </p:nvCxnSpPr>
        <p:spPr>
          <a:xfrm>
            <a:off x="8406962" y="1782914"/>
            <a:ext cx="101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40"/>
          <p:cNvCxnSpPr>
            <a:stCxn id="897" idx="3"/>
            <a:endCxn id="911" idx="6"/>
          </p:cNvCxnSpPr>
          <p:nvPr/>
        </p:nvCxnSpPr>
        <p:spPr>
          <a:xfrm flipH="1">
            <a:off x="5466861" y="3724875"/>
            <a:ext cx="750900" cy="15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40"/>
          <p:cNvCxnSpPr/>
          <p:nvPr/>
        </p:nvCxnSpPr>
        <p:spPr>
          <a:xfrm>
            <a:off x="4806427" y="1557600"/>
            <a:ext cx="231300" cy="103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two </a:t>
            </a:r>
            <a:r>
              <a:rPr lang="en-GB" b="1"/>
              <a:t>fundamental </a:t>
            </a:r>
            <a:r>
              <a:rPr lang="en-GB"/>
              <a:t>roles in a computer network.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Role 1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 b="1"/>
              <a:t>client</a:t>
            </a:r>
            <a:r>
              <a:rPr lang="en-GB"/>
              <a:t>, which puts in a request for data.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Role 2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</a:t>
            </a:r>
            <a:r>
              <a:rPr lang="en-GB" b="1"/>
              <a:t>server</a:t>
            </a:r>
            <a:r>
              <a:rPr lang="en-GB"/>
              <a:t>, which</a:t>
            </a:r>
            <a:r>
              <a:rPr lang="en-GB" b="1"/>
              <a:t> </a:t>
            </a:r>
            <a:r>
              <a:rPr lang="en-GB"/>
              <a:t>fulfils that request.</a:t>
            </a:r>
            <a:endParaRPr/>
          </a:p>
        </p:txBody>
      </p:sp>
      <p:sp>
        <p:nvSpPr>
          <p:cNvPr id="1236" name="Google Shape;1236;p4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computers share resources?</a:t>
            </a:r>
            <a:endParaRPr/>
          </a:p>
        </p:txBody>
      </p:sp>
      <p:sp>
        <p:nvSpPr>
          <p:cNvPr id="1237" name="Google Shape;1237;p4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90</a:t>
            </a:fld>
            <a:endParaRPr/>
          </a:p>
        </p:txBody>
      </p:sp>
      <p:sp>
        <p:nvSpPr>
          <p:cNvPr id="1238" name="Google Shape;1238;p4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239" name="Google Shape;123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698" y="1544000"/>
            <a:ext cx="1300351" cy="7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4048" y="2948650"/>
            <a:ext cx="1300351" cy="7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45"/>
          <p:cNvSpPr txBox="1"/>
          <p:nvPr/>
        </p:nvSpPr>
        <p:spPr>
          <a:xfrm>
            <a:off x="5070700" y="2336400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42" name="Google Shape;1242;p45"/>
          <p:cNvSpPr txBox="1"/>
          <p:nvPr/>
        </p:nvSpPr>
        <p:spPr>
          <a:xfrm>
            <a:off x="7204050" y="3741050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243" name="Google Shape;1243;p45"/>
          <p:cNvCxnSpPr/>
          <p:nvPr/>
        </p:nvCxnSpPr>
        <p:spPr>
          <a:xfrm>
            <a:off x="6367475" y="2313525"/>
            <a:ext cx="870300" cy="1379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4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relationship between the </a:t>
            </a:r>
            <a:r>
              <a:rPr lang="en-GB" b="1"/>
              <a:t>client </a:t>
            </a:r>
            <a:r>
              <a:rPr lang="en-GB"/>
              <a:t>and the </a:t>
            </a:r>
            <a:r>
              <a:rPr lang="en-GB" b="1"/>
              <a:t>server </a:t>
            </a:r>
            <a:r>
              <a:rPr lang="en-GB"/>
              <a:t>can be organised in different ways.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most common are: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</a:t>
            </a:r>
            <a:r>
              <a:rPr lang="en-GB" b="1"/>
              <a:t>client–server</a:t>
            </a:r>
            <a:r>
              <a:rPr lang="en-GB"/>
              <a:t>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</a:t>
            </a:r>
            <a:r>
              <a:rPr lang="en-GB" b="1"/>
              <a:t>peer-to-peer</a:t>
            </a:r>
            <a:r>
              <a:rPr lang="en-GB"/>
              <a:t> model</a:t>
            </a:r>
            <a:endParaRPr/>
          </a:p>
        </p:txBody>
      </p:sp>
      <p:sp>
        <p:nvSpPr>
          <p:cNvPr id="1249" name="Google Shape;1249;p4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models</a:t>
            </a:r>
            <a:endParaRPr/>
          </a:p>
        </p:txBody>
      </p:sp>
      <p:sp>
        <p:nvSpPr>
          <p:cNvPr id="1250" name="Google Shape;1250;p4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91</a:t>
            </a:fld>
            <a:endParaRPr/>
          </a:p>
        </p:txBody>
      </p:sp>
      <p:sp>
        <p:nvSpPr>
          <p:cNvPr id="1251" name="Google Shape;1251;p4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252" name="Google Shape;125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698" y="1544000"/>
            <a:ext cx="1300351" cy="7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4048" y="2948650"/>
            <a:ext cx="1300351" cy="7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46"/>
          <p:cNvSpPr txBox="1"/>
          <p:nvPr/>
        </p:nvSpPr>
        <p:spPr>
          <a:xfrm>
            <a:off x="5070700" y="2336400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55" name="Google Shape;1255;p46"/>
          <p:cNvSpPr txBox="1"/>
          <p:nvPr/>
        </p:nvSpPr>
        <p:spPr>
          <a:xfrm>
            <a:off x="7204050" y="3741050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256" name="Google Shape;1256;p46"/>
          <p:cNvCxnSpPr/>
          <p:nvPr/>
        </p:nvCxnSpPr>
        <p:spPr>
          <a:xfrm>
            <a:off x="6367475" y="2313525"/>
            <a:ext cx="870300" cy="1379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</a:t>
            </a:r>
            <a:r>
              <a:rPr lang="en-GB" b="1"/>
              <a:t>client–server</a:t>
            </a:r>
            <a:r>
              <a:rPr lang="en-GB"/>
              <a:t> model, a dedicated </a:t>
            </a:r>
            <a:r>
              <a:rPr lang="en-GB" b="1"/>
              <a:t>server </a:t>
            </a:r>
            <a:r>
              <a:rPr lang="en-GB"/>
              <a:t>will fulfil requests for one or more </a:t>
            </a:r>
            <a:r>
              <a:rPr lang="en-GB" b="1"/>
              <a:t>clients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You will learn more about this next lesson. </a:t>
            </a:r>
            <a:endParaRPr/>
          </a:p>
        </p:txBody>
      </p:sp>
      <p:sp>
        <p:nvSpPr>
          <p:cNvPr id="1262" name="Google Shape;1262;p4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client–server model</a:t>
            </a:r>
            <a:endParaRPr/>
          </a:p>
        </p:txBody>
      </p:sp>
      <p:sp>
        <p:nvSpPr>
          <p:cNvPr id="1263" name="Google Shape;1263;p4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92</a:t>
            </a:fld>
            <a:endParaRPr/>
          </a:p>
        </p:txBody>
      </p:sp>
      <p:sp>
        <p:nvSpPr>
          <p:cNvPr id="1264" name="Google Shape;1264;p4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265" name="Google Shape;126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47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70" name="Google Shape;1270;p47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71" name="Google Shape;1271;p47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72" name="Google Shape;1272;p47"/>
          <p:cNvSpPr txBox="1"/>
          <p:nvPr/>
        </p:nvSpPr>
        <p:spPr>
          <a:xfrm>
            <a:off x="78884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273" name="Google Shape;1273;p47"/>
          <p:cNvCxnSpPr>
            <a:stCxn id="1265" idx="2"/>
            <a:endCxn id="1266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47"/>
          <p:cNvCxnSpPr>
            <a:stCxn id="1265" idx="2"/>
            <a:endCxn id="1267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5" name="Google Shape;1275;p47"/>
          <p:cNvCxnSpPr>
            <a:stCxn id="1265" idx="2"/>
            <a:endCxn id="1268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With a </a:t>
            </a:r>
            <a:r>
              <a:rPr lang="en-GB" b="1"/>
              <a:t>peer-to-peer model</a:t>
            </a:r>
            <a:r>
              <a:rPr lang="en-GB"/>
              <a:t>, each device can perform the role of the client </a:t>
            </a:r>
            <a:r>
              <a:rPr lang="en-GB" b="1"/>
              <a:t>and</a:t>
            </a:r>
            <a:r>
              <a:rPr lang="en-GB"/>
              <a:t> the server.  </a:t>
            </a:r>
            <a:endParaRPr/>
          </a:p>
        </p:txBody>
      </p:sp>
      <p:sp>
        <p:nvSpPr>
          <p:cNvPr id="1281" name="Google Shape;1281;p4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peer-to-peer model</a:t>
            </a:r>
            <a:endParaRPr/>
          </a:p>
        </p:txBody>
      </p:sp>
      <p:sp>
        <p:nvSpPr>
          <p:cNvPr id="1282" name="Google Shape;1282;p4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93</a:t>
            </a:fld>
            <a:endParaRPr/>
          </a:p>
        </p:txBody>
      </p:sp>
      <p:sp>
        <p:nvSpPr>
          <p:cNvPr id="1283" name="Google Shape;1283;p4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284" name="Google Shape;12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599" y="18765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2549" y="18765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8499" y="18765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48"/>
          <p:cNvSpPr txBox="1"/>
          <p:nvPr/>
        </p:nvSpPr>
        <p:spPr>
          <a:xfrm>
            <a:off x="4736600" y="2375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88" name="Google Shape;1288;p48"/>
          <p:cNvSpPr txBox="1"/>
          <p:nvPr/>
        </p:nvSpPr>
        <p:spPr>
          <a:xfrm>
            <a:off x="6312500" y="2375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89" name="Google Shape;1289;p48"/>
          <p:cNvSpPr txBox="1"/>
          <p:nvPr/>
        </p:nvSpPr>
        <p:spPr>
          <a:xfrm>
            <a:off x="7888400" y="2375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90" name="Google Shape;1290;p48"/>
          <p:cNvSpPr txBox="1"/>
          <p:nvPr/>
        </p:nvSpPr>
        <p:spPr>
          <a:xfrm>
            <a:off x="4736600" y="1556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91" name="Google Shape;1291;p48"/>
          <p:cNvSpPr txBox="1"/>
          <p:nvPr/>
        </p:nvSpPr>
        <p:spPr>
          <a:xfrm>
            <a:off x="6312500" y="1556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92" name="Google Shape;1292;p48"/>
          <p:cNvSpPr txBox="1"/>
          <p:nvPr/>
        </p:nvSpPr>
        <p:spPr>
          <a:xfrm>
            <a:off x="7888400" y="1556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293" name="Google Shape;1293;p48"/>
          <p:cNvCxnSpPr/>
          <p:nvPr/>
        </p:nvCxnSpPr>
        <p:spPr>
          <a:xfrm>
            <a:off x="5667050" y="2433800"/>
            <a:ext cx="679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4" name="Google Shape;1294;p48"/>
          <p:cNvCxnSpPr/>
          <p:nvPr/>
        </p:nvCxnSpPr>
        <p:spPr>
          <a:xfrm rot="10800000">
            <a:off x="7237850" y="2433800"/>
            <a:ext cx="686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95" name="Google Shape;129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599" y="336607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2549" y="336607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8499" y="336607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48"/>
          <p:cNvSpPr txBox="1"/>
          <p:nvPr/>
        </p:nvSpPr>
        <p:spPr>
          <a:xfrm>
            <a:off x="4736600" y="3865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99" name="Google Shape;1299;p48"/>
          <p:cNvSpPr txBox="1"/>
          <p:nvPr/>
        </p:nvSpPr>
        <p:spPr>
          <a:xfrm>
            <a:off x="6312500" y="3865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00" name="Google Shape;1300;p48"/>
          <p:cNvSpPr txBox="1"/>
          <p:nvPr/>
        </p:nvSpPr>
        <p:spPr>
          <a:xfrm>
            <a:off x="7888400" y="3865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01" name="Google Shape;1301;p48"/>
          <p:cNvSpPr txBox="1"/>
          <p:nvPr/>
        </p:nvSpPr>
        <p:spPr>
          <a:xfrm>
            <a:off x="4736600" y="3046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02" name="Google Shape;1302;p48"/>
          <p:cNvSpPr txBox="1"/>
          <p:nvPr/>
        </p:nvSpPr>
        <p:spPr>
          <a:xfrm>
            <a:off x="6312500" y="3046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03" name="Google Shape;1303;p48"/>
          <p:cNvSpPr txBox="1"/>
          <p:nvPr/>
        </p:nvSpPr>
        <p:spPr>
          <a:xfrm>
            <a:off x="7888400" y="3046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04" name="Google Shape;1304;p48"/>
          <p:cNvCxnSpPr/>
          <p:nvPr/>
        </p:nvCxnSpPr>
        <p:spPr>
          <a:xfrm>
            <a:off x="5667050" y="3923350"/>
            <a:ext cx="679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5" name="Google Shape;1305;p48"/>
          <p:cNvCxnSpPr/>
          <p:nvPr/>
        </p:nvCxnSpPr>
        <p:spPr>
          <a:xfrm rot="10800000">
            <a:off x="7237850" y="3923350"/>
            <a:ext cx="686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6" name="Google Shape;1306;p48"/>
          <p:cNvCxnSpPr/>
          <p:nvPr/>
        </p:nvCxnSpPr>
        <p:spPr>
          <a:xfrm>
            <a:off x="4882200" y="2455025"/>
            <a:ext cx="0" cy="92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7" name="Google Shape;1307;p48"/>
          <p:cNvCxnSpPr/>
          <p:nvPr/>
        </p:nvCxnSpPr>
        <p:spPr>
          <a:xfrm>
            <a:off x="8678050" y="2455025"/>
            <a:ext cx="0" cy="92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groups of 3, you will take part in an unplugged activity where you act out various scenarios performed using the </a:t>
            </a:r>
            <a:r>
              <a:rPr lang="en-GB" b="1"/>
              <a:t>peer-to-peer model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Read your instructions on the </a:t>
            </a:r>
            <a:r>
              <a:rPr lang="en-GB" b="1"/>
              <a:t>activity 2 sheet</a:t>
            </a:r>
            <a:r>
              <a:rPr lang="en-GB"/>
              <a:t> carefully to set up the task. Scenario one will be completed together using the following slides.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313" name="Google Shape;1313;p4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peer-to-peer model</a:t>
            </a:r>
            <a:endParaRPr/>
          </a:p>
        </p:txBody>
      </p:sp>
      <p:sp>
        <p:nvSpPr>
          <p:cNvPr id="1314" name="Google Shape;1314;p4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94</a:t>
            </a:fld>
            <a:endParaRPr/>
          </a:p>
        </p:txBody>
      </p:sp>
      <p:sp>
        <p:nvSpPr>
          <p:cNvPr id="1315" name="Google Shape;1315;p4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316" name="Google Shape;13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025" y="1180113"/>
            <a:ext cx="3212242" cy="33343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5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Office worker 1</a:t>
            </a:r>
            <a:r>
              <a:rPr lang="en-GB"/>
              <a:t> sends a request for the file </a:t>
            </a:r>
            <a:r>
              <a:rPr lang="en-GB" b="1"/>
              <a:t>Company_logo.png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Marketing manager</a:t>
            </a:r>
            <a:r>
              <a:rPr lang="en-GB"/>
              <a:t> receives the request and sends the file </a:t>
            </a:r>
            <a:r>
              <a:rPr lang="en-GB" b="1"/>
              <a:t>Company_logo.png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Finance manager</a:t>
            </a:r>
            <a:r>
              <a:rPr lang="en-GB"/>
              <a:t> sends a print request for the file </a:t>
            </a:r>
            <a:r>
              <a:rPr lang="en-GB" b="1"/>
              <a:t>Annual_budget.xls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Marketing manager</a:t>
            </a:r>
            <a:r>
              <a:rPr lang="en-GB"/>
              <a:t> actions the print request from </a:t>
            </a:r>
            <a:r>
              <a:rPr lang="en-GB" b="1"/>
              <a:t>Finance manager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323" name="Google Shape;1323;p5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 1</a:t>
            </a:r>
            <a:endParaRPr/>
          </a:p>
        </p:txBody>
      </p:sp>
      <p:sp>
        <p:nvSpPr>
          <p:cNvPr id="1324" name="Google Shape;1324;p5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95</a:t>
            </a:fld>
            <a:endParaRPr/>
          </a:p>
        </p:txBody>
      </p:sp>
      <p:sp>
        <p:nvSpPr>
          <p:cNvPr id="1325" name="Google Shape;1325;p5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326" name="Google Shape;13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644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51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1" name="Google Shape;1331;p50"/>
          <p:cNvCxnSpPr/>
          <p:nvPr/>
        </p:nvCxnSpPr>
        <p:spPr>
          <a:xfrm>
            <a:off x="6608025" y="2235700"/>
            <a:ext cx="66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2" name="Google Shape;1332;p50"/>
          <p:cNvCxnSpPr/>
          <p:nvPr/>
        </p:nvCxnSpPr>
        <p:spPr>
          <a:xfrm>
            <a:off x="58300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3" name="Google Shape;1333;p50"/>
          <p:cNvCxnSpPr/>
          <p:nvPr/>
        </p:nvCxnSpPr>
        <p:spPr>
          <a:xfrm>
            <a:off x="6608025" y="3714350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" name="Google Shape;1334;p50"/>
          <p:cNvCxnSpPr/>
          <p:nvPr/>
        </p:nvCxnSpPr>
        <p:spPr>
          <a:xfrm>
            <a:off x="80398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51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/>
              <a:t>(optional) </a:t>
            </a:r>
            <a:r>
              <a:rPr lang="en-GB" b="1"/>
              <a:t>Office worker 2</a:t>
            </a:r>
            <a:r>
              <a:rPr lang="en-GB"/>
              <a:t> sends a request for the file </a:t>
            </a:r>
            <a:r>
              <a:rPr lang="en-GB" b="1"/>
              <a:t>Website_animation.gif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/>
              <a:t>(optional) </a:t>
            </a:r>
            <a:r>
              <a:rPr lang="en-GB" b="1"/>
              <a:t>Marketing manager</a:t>
            </a:r>
            <a:r>
              <a:rPr lang="en-GB"/>
              <a:t> receives the request and sends the file </a:t>
            </a:r>
            <a:r>
              <a:rPr lang="en-GB" b="1"/>
              <a:t>Website_animation.gif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 b="1"/>
              <a:t>Office worker 1</a:t>
            </a:r>
            <a:r>
              <a:rPr lang="en-GB"/>
              <a:t> sends a print request for the file </a:t>
            </a:r>
            <a:r>
              <a:rPr lang="en-GB" b="1"/>
              <a:t>Welcome_letter.doc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 b="1"/>
              <a:t>Marketing manager</a:t>
            </a:r>
            <a:r>
              <a:rPr lang="en-GB"/>
              <a:t> actions the print request from </a:t>
            </a:r>
            <a:r>
              <a:rPr lang="en-GB" b="1"/>
              <a:t>Office worker 1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340" name="Google Shape;1340;p5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 1</a:t>
            </a:r>
            <a:endParaRPr/>
          </a:p>
        </p:txBody>
      </p:sp>
      <p:sp>
        <p:nvSpPr>
          <p:cNvPr id="1341" name="Google Shape;1341;p5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96</a:t>
            </a:fld>
            <a:endParaRPr/>
          </a:p>
        </p:txBody>
      </p:sp>
      <p:sp>
        <p:nvSpPr>
          <p:cNvPr id="1342" name="Google Shape;1342;p5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343" name="Google Shape;134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644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51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8" name="Google Shape;1348;p51"/>
          <p:cNvCxnSpPr/>
          <p:nvPr/>
        </p:nvCxnSpPr>
        <p:spPr>
          <a:xfrm>
            <a:off x="6608025" y="2235700"/>
            <a:ext cx="66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9" name="Google Shape;1349;p51"/>
          <p:cNvCxnSpPr/>
          <p:nvPr/>
        </p:nvCxnSpPr>
        <p:spPr>
          <a:xfrm>
            <a:off x="58300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0" name="Google Shape;1350;p51"/>
          <p:cNvCxnSpPr/>
          <p:nvPr/>
        </p:nvCxnSpPr>
        <p:spPr>
          <a:xfrm>
            <a:off x="6608025" y="3714350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1" name="Google Shape;1351;p51"/>
          <p:cNvCxnSpPr/>
          <p:nvPr/>
        </p:nvCxnSpPr>
        <p:spPr>
          <a:xfrm>
            <a:off x="80398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52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Marketing manager</a:t>
            </a:r>
            <a:r>
              <a:rPr lang="en-GB"/>
              <a:t> sends a request for the file </a:t>
            </a:r>
            <a:r>
              <a:rPr lang="en-GB" b="1"/>
              <a:t>Customer_database.db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Finance manager </a:t>
            </a:r>
            <a:r>
              <a:rPr lang="en-GB"/>
              <a:t>receives the request and sends the file </a:t>
            </a:r>
            <a:r>
              <a:rPr lang="en-GB" b="1"/>
              <a:t>Customer_database.db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Marketing manager</a:t>
            </a:r>
            <a:r>
              <a:rPr lang="en-GB"/>
              <a:t> requests to print </a:t>
            </a:r>
            <a:r>
              <a:rPr lang="en-GB" b="1"/>
              <a:t>Company_logo.png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Marketing manager</a:t>
            </a:r>
            <a:r>
              <a:rPr lang="en-GB"/>
              <a:t> actions the request to print </a:t>
            </a:r>
            <a:r>
              <a:rPr lang="en-GB" b="1"/>
              <a:t>Company_logo.png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357" name="Google Shape;1357;p5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 1</a:t>
            </a:r>
            <a:endParaRPr/>
          </a:p>
        </p:txBody>
      </p:sp>
      <p:sp>
        <p:nvSpPr>
          <p:cNvPr id="1358" name="Google Shape;1358;p5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97</a:t>
            </a:fld>
            <a:endParaRPr/>
          </a:p>
        </p:txBody>
      </p:sp>
      <p:sp>
        <p:nvSpPr>
          <p:cNvPr id="1359" name="Google Shape;1359;p5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360" name="Google Shape;136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644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51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5" name="Google Shape;1365;p52"/>
          <p:cNvCxnSpPr/>
          <p:nvPr/>
        </p:nvCxnSpPr>
        <p:spPr>
          <a:xfrm>
            <a:off x="6608025" y="2235700"/>
            <a:ext cx="66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6" name="Google Shape;1366;p52"/>
          <p:cNvCxnSpPr/>
          <p:nvPr/>
        </p:nvCxnSpPr>
        <p:spPr>
          <a:xfrm>
            <a:off x="58300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7" name="Google Shape;1367;p52"/>
          <p:cNvCxnSpPr/>
          <p:nvPr/>
        </p:nvCxnSpPr>
        <p:spPr>
          <a:xfrm>
            <a:off x="6608025" y="3714350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8" name="Google Shape;1368;p52"/>
          <p:cNvCxnSpPr/>
          <p:nvPr/>
        </p:nvCxnSpPr>
        <p:spPr>
          <a:xfrm>
            <a:off x="80398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5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complete </a:t>
            </a:r>
            <a:r>
              <a:rPr lang="en-GB" b="1"/>
              <a:t>scenarios two</a:t>
            </a:r>
            <a:r>
              <a:rPr lang="en-GB"/>
              <a:t> and </a:t>
            </a:r>
            <a:r>
              <a:rPr lang="en-GB" b="1"/>
              <a:t>three </a:t>
            </a:r>
            <a:r>
              <a:rPr lang="en-GB"/>
              <a:t>in your individual groups.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After completing the scenarios, reflect on the </a:t>
            </a:r>
            <a:r>
              <a:rPr lang="en-GB" b="1"/>
              <a:t>advantages </a:t>
            </a:r>
            <a:r>
              <a:rPr lang="en-GB"/>
              <a:t>and </a:t>
            </a:r>
            <a:r>
              <a:rPr lang="en-GB" b="1"/>
              <a:t>disadvantages </a:t>
            </a:r>
            <a:r>
              <a:rPr lang="en-GB"/>
              <a:t>of using the </a:t>
            </a:r>
            <a:r>
              <a:rPr lang="en-GB" b="1"/>
              <a:t>peer-to-peer</a:t>
            </a:r>
            <a:r>
              <a:rPr lang="en-GB"/>
              <a:t> model.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374" name="Google Shape;1374;p5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peer-to-peer model</a:t>
            </a:r>
            <a:endParaRPr/>
          </a:p>
        </p:txBody>
      </p:sp>
      <p:sp>
        <p:nvSpPr>
          <p:cNvPr id="1375" name="Google Shape;1375;p5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98</a:t>
            </a:fld>
            <a:endParaRPr/>
          </a:p>
        </p:txBody>
      </p:sp>
      <p:sp>
        <p:nvSpPr>
          <p:cNvPr id="1376" name="Google Shape;1376;p5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377" name="Google Shape;13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025" y="1180113"/>
            <a:ext cx="3212242" cy="33343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5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Choose </a:t>
            </a:r>
            <a:r>
              <a:rPr lang="en-GB" b="1"/>
              <a:t>one person</a:t>
            </a:r>
            <a:r>
              <a:rPr lang="en-GB"/>
              <a:t> from your group to share the </a:t>
            </a:r>
            <a:r>
              <a:rPr lang="en-GB" b="1"/>
              <a:t>advantages </a:t>
            </a:r>
            <a:r>
              <a:rPr lang="en-GB"/>
              <a:t>and </a:t>
            </a:r>
            <a:r>
              <a:rPr lang="en-GB" b="1"/>
              <a:t>disadvantages </a:t>
            </a:r>
            <a:r>
              <a:rPr lang="en-GB"/>
              <a:t>that you considered whilst completing the activity. </a:t>
            </a:r>
            <a:endParaRPr/>
          </a:p>
        </p:txBody>
      </p:sp>
      <p:sp>
        <p:nvSpPr>
          <p:cNvPr id="1384" name="Google Shape;1384;p5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</a:t>
            </a:r>
            <a:endParaRPr/>
          </a:p>
        </p:txBody>
      </p:sp>
      <p:sp>
        <p:nvSpPr>
          <p:cNvPr id="1385" name="Google Shape;1385;p5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99</a:t>
            </a:fld>
            <a:endParaRPr/>
          </a:p>
        </p:txBody>
      </p:sp>
      <p:sp>
        <p:nvSpPr>
          <p:cNvPr id="1386" name="Google Shape;1386;p5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387" name="Google Shape;138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30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644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51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2" name="Google Shape;1392;p54"/>
          <p:cNvCxnSpPr/>
          <p:nvPr/>
        </p:nvCxnSpPr>
        <p:spPr>
          <a:xfrm>
            <a:off x="6608025" y="2235700"/>
            <a:ext cx="66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3" name="Google Shape;1393;p54"/>
          <p:cNvCxnSpPr/>
          <p:nvPr/>
        </p:nvCxnSpPr>
        <p:spPr>
          <a:xfrm>
            <a:off x="6608025" y="3714350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4" name="Google Shape;1394;p54"/>
          <p:cNvCxnSpPr/>
          <p:nvPr/>
        </p:nvCxnSpPr>
        <p:spPr>
          <a:xfrm>
            <a:off x="80398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5" name="Google Shape;1395;p54"/>
          <p:cNvCxnSpPr/>
          <p:nvPr/>
        </p:nvCxnSpPr>
        <p:spPr>
          <a:xfrm>
            <a:off x="58300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5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Advantages: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Clients are not dependent on one single server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Resources can be shared between computers (e.g. printers)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doesn’t require expensive equipment to set 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more than one computer in the network hosts a file, then the client can request it from the device that is closest</a:t>
            </a:r>
            <a:endParaRPr/>
          </a:p>
        </p:txBody>
      </p:sp>
      <p:sp>
        <p:nvSpPr>
          <p:cNvPr id="1401" name="Google Shape;1401;p5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disadvantages: model answers</a:t>
            </a:r>
            <a:endParaRPr/>
          </a:p>
        </p:txBody>
      </p:sp>
      <p:sp>
        <p:nvSpPr>
          <p:cNvPr id="1402" name="Google Shape;1402;p5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100</a:t>
            </a:fld>
            <a:endParaRPr/>
          </a:p>
        </p:txBody>
      </p:sp>
      <p:sp>
        <p:nvSpPr>
          <p:cNvPr id="1403" name="Google Shape;1403;p5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404" name="Google Shape;140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3038" y="463863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644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51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4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9" name="Google Shape;1409;p55"/>
          <p:cNvCxnSpPr/>
          <p:nvPr/>
        </p:nvCxnSpPr>
        <p:spPr>
          <a:xfrm>
            <a:off x="6608025" y="2235700"/>
            <a:ext cx="66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0" name="Google Shape;1410;p55"/>
          <p:cNvCxnSpPr/>
          <p:nvPr/>
        </p:nvCxnSpPr>
        <p:spPr>
          <a:xfrm>
            <a:off x="6608025" y="3714350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1" name="Google Shape;1411;p55"/>
          <p:cNvCxnSpPr/>
          <p:nvPr/>
        </p:nvCxnSpPr>
        <p:spPr>
          <a:xfrm>
            <a:off x="80398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2" name="Google Shape;1412;p55"/>
          <p:cNvCxnSpPr/>
          <p:nvPr/>
        </p:nvCxnSpPr>
        <p:spPr>
          <a:xfrm>
            <a:off x="58300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5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Disadvantages: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a shared peripheral, like a printer, can lead to a computer slowing down whilst processing many requests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a host computer breaks down, this can cause files or peripherals that are hosted by it to be unavailable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is no central backup system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is no central way to provide security for the network </a:t>
            </a:r>
            <a:endParaRPr/>
          </a:p>
        </p:txBody>
      </p:sp>
      <p:sp>
        <p:nvSpPr>
          <p:cNvPr id="1418" name="Google Shape;1418;p5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disadvantages: model answers</a:t>
            </a:r>
            <a:endParaRPr/>
          </a:p>
        </p:txBody>
      </p:sp>
      <p:sp>
        <p:nvSpPr>
          <p:cNvPr id="1419" name="Google Shape;1419;p5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101</a:t>
            </a:fld>
            <a:endParaRPr/>
          </a:p>
        </p:txBody>
      </p:sp>
      <p:sp>
        <p:nvSpPr>
          <p:cNvPr id="1420" name="Google Shape;1420;p5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1421" name="Google Shape;142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49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" name="Google Shape;142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449" y="167135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51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499" y="3160900"/>
            <a:ext cx="944599" cy="57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5" name="Google Shape;1425;p56"/>
          <p:cNvCxnSpPr/>
          <p:nvPr/>
        </p:nvCxnSpPr>
        <p:spPr>
          <a:xfrm>
            <a:off x="6608025" y="2235700"/>
            <a:ext cx="66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6" name="Google Shape;1426;p56"/>
          <p:cNvCxnSpPr/>
          <p:nvPr/>
        </p:nvCxnSpPr>
        <p:spPr>
          <a:xfrm>
            <a:off x="6608025" y="3714350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7" name="Google Shape;1427;p56"/>
          <p:cNvCxnSpPr/>
          <p:nvPr/>
        </p:nvCxnSpPr>
        <p:spPr>
          <a:xfrm>
            <a:off x="80398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8" name="Google Shape;1428;p56"/>
          <p:cNvCxnSpPr/>
          <p:nvPr/>
        </p:nvCxnSpPr>
        <p:spPr>
          <a:xfrm>
            <a:off x="5830025" y="2214475"/>
            <a:ext cx="0" cy="96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5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temporary </a:t>
            </a:r>
            <a:r>
              <a:rPr lang="en-GB"/>
              <a:t>peer-to-peer network can be set up between trusted friends or colleagues to </a:t>
            </a:r>
            <a:r>
              <a:rPr lang="en-GB" b="1"/>
              <a:t>share files</a:t>
            </a:r>
            <a:r>
              <a:rPr lang="en-GB"/>
              <a:t> between devices.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Modern </a:t>
            </a:r>
            <a:r>
              <a:rPr lang="en-GB" b="1"/>
              <a:t>smartphones</a:t>
            </a:r>
            <a:r>
              <a:rPr lang="en-GB"/>
              <a:t> typically have features that allow you to set up temporary connections to share photos, videos, or document files. </a:t>
            </a:r>
            <a:endParaRPr/>
          </a:p>
        </p:txBody>
      </p:sp>
      <p:sp>
        <p:nvSpPr>
          <p:cNvPr id="1434" name="Google Shape;1434;p5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Peer-to-peer network: real-world examples</a:t>
            </a:r>
            <a:endParaRPr/>
          </a:p>
        </p:txBody>
      </p:sp>
      <p:sp>
        <p:nvSpPr>
          <p:cNvPr id="1435" name="Google Shape;1435;p5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102</a:t>
            </a:fld>
            <a:endParaRPr/>
          </a:p>
        </p:txBody>
      </p:sp>
      <p:sp>
        <p:nvSpPr>
          <p:cNvPr id="1436" name="Google Shape;1436;p5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1437" name="Google Shape;1437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9326" y="1170125"/>
            <a:ext cx="2441862" cy="36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b="1"/>
              <a:t>Temporary</a:t>
            </a:r>
            <a:r>
              <a:rPr lang="en-GB"/>
              <a:t> peer-to-peer connections can also be created using other devices like </a:t>
            </a:r>
            <a:r>
              <a:rPr lang="en-GB" b="1"/>
              <a:t>computers </a:t>
            </a:r>
            <a:r>
              <a:rPr lang="en-GB"/>
              <a:t>and </a:t>
            </a:r>
            <a:r>
              <a:rPr lang="en-GB" b="1"/>
              <a:t>laptops </a:t>
            </a:r>
            <a:r>
              <a:rPr lang="en-GB"/>
              <a:t>to share files. </a:t>
            </a:r>
            <a:endParaRPr/>
          </a:p>
        </p:txBody>
      </p:sp>
      <p:sp>
        <p:nvSpPr>
          <p:cNvPr id="1443" name="Google Shape;1443;p5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Peer-to-peer network: real-world examples</a:t>
            </a:r>
            <a:endParaRPr/>
          </a:p>
        </p:txBody>
      </p:sp>
      <p:sp>
        <p:nvSpPr>
          <p:cNvPr id="1444" name="Google Shape;1444;p5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103</a:t>
            </a:fld>
            <a:endParaRPr/>
          </a:p>
        </p:txBody>
      </p:sp>
      <p:sp>
        <p:nvSpPr>
          <p:cNvPr id="1445" name="Google Shape;1445;p5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1446" name="Google Shape;1446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9326" y="1170125"/>
            <a:ext cx="2441862" cy="36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5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example is </a:t>
            </a:r>
            <a:r>
              <a:rPr lang="en-GB" b="1"/>
              <a:t>streaming </a:t>
            </a:r>
            <a:r>
              <a:rPr lang="en-GB"/>
              <a:t>and </a:t>
            </a:r>
            <a:r>
              <a:rPr lang="en-GB" b="1"/>
              <a:t>on-demand</a:t>
            </a:r>
            <a:r>
              <a:rPr lang="en-GB"/>
              <a:t> TV services.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peer-to-peer model can be used to make streaming </a:t>
            </a:r>
            <a:r>
              <a:rPr lang="en-GB" b="1"/>
              <a:t>faster </a:t>
            </a:r>
            <a:r>
              <a:rPr lang="en-GB"/>
              <a:t>for the users and </a:t>
            </a:r>
            <a:r>
              <a:rPr lang="en-GB" b="1"/>
              <a:t>reduce </a:t>
            </a:r>
            <a:r>
              <a:rPr lang="en-GB"/>
              <a:t>the load on the provider’s network.</a:t>
            </a:r>
            <a:endParaRPr/>
          </a:p>
        </p:txBody>
      </p:sp>
      <p:sp>
        <p:nvSpPr>
          <p:cNvPr id="1452" name="Google Shape;1452;p5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Peer-to-peer network: real-world examples</a:t>
            </a:r>
            <a:endParaRPr/>
          </a:p>
        </p:txBody>
      </p:sp>
      <p:sp>
        <p:nvSpPr>
          <p:cNvPr id="1453" name="Google Shape;1453;p5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104</a:t>
            </a:fld>
            <a:endParaRPr/>
          </a:p>
        </p:txBody>
      </p:sp>
      <p:sp>
        <p:nvSpPr>
          <p:cNvPr id="1454" name="Google Shape;1454;p5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1455" name="Google Shape;1455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0550" y="1170125"/>
            <a:ext cx="2439393" cy="36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Lesson: The client–server model</a:t>
            </a:r>
            <a:endParaRPr dirty="0"/>
          </a:p>
        </p:txBody>
      </p:sp>
      <p:sp>
        <p:nvSpPr>
          <p:cNvPr id="69" name="Google Shape;69;p12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Computer networks</a:t>
            </a:r>
            <a:endParaRPr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Define – computer network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 computer network is two or more computers connected together, sharing resources.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Define – peer-to-peer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 type of connection used in a network. Each device in a peer-to-peer network has equal responsibility. They can act as both client and server.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a definition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106</a:t>
            </a:fld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599" y="18765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2549" y="18765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8499" y="18765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736600" y="2375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312500" y="2375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888400" y="2375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736600" y="1556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312500" y="1556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888400" y="1556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06" name="Google Shape;106;p14"/>
          <p:cNvCxnSpPr/>
          <p:nvPr/>
        </p:nvCxnSpPr>
        <p:spPr>
          <a:xfrm>
            <a:off x="5667050" y="2433800"/>
            <a:ext cx="679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4"/>
          <p:cNvCxnSpPr/>
          <p:nvPr/>
        </p:nvCxnSpPr>
        <p:spPr>
          <a:xfrm rot="10800000">
            <a:off x="7237850" y="2433800"/>
            <a:ext cx="686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8" name="Google Shape;1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599" y="336607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2549" y="336607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8499" y="336607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736600" y="3865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312500" y="3865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888400" y="3865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736600" y="3046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312500" y="3046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888400" y="304650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17" name="Google Shape;117;p14"/>
          <p:cNvCxnSpPr/>
          <p:nvPr/>
        </p:nvCxnSpPr>
        <p:spPr>
          <a:xfrm>
            <a:off x="5667050" y="3923350"/>
            <a:ext cx="679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4"/>
          <p:cNvCxnSpPr/>
          <p:nvPr/>
        </p:nvCxnSpPr>
        <p:spPr>
          <a:xfrm rot="10800000">
            <a:off x="7237850" y="3923350"/>
            <a:ext cx="686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4"/>
          <p:cNvCxnSpPr/>
          <p:nvPr/>
        </p:nvCxnSpPr>
        <p:spPr>
          <a:xfrm>
            <a:off x="4882200" y="2455025"/>
            <a:ext cx="0" cy="92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4"/>
          <p:cNvCxnSpPr/>
          <p:nvPr/>
        </p:nvCxnSpPr>
        <p:spPr>
          <a:xfrm>
            <a:off x="8678050" y="2455025"/>
            <a:ext cx="0" cy="92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</a:t>
            </a:r>
            <a:r>
              <a:rPr lang="en-GB" b="1"/>
              <a:t>client–server</a:t>
            </a:r>
            <a:r>
              <a:rPr lang="en-GB"/>
              <a:t> model there are two main roles: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</a:t>
            </a:r>
            <a:r>
              <a:rPr lang="en-GB" b="1"/>
              <a:t>client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</a:t>
            </a:r>
            <a:r>
              <a:rPr lang="en-GB" b="1"/>
              <a:t>server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Clients make requests</a:t>
            </a:r>
            <a:r>
              <a:rPr lang="en-GB"/>
              <a:t>. This could be for all sorts of tasks like requesting files, accessing emails, or printing a document.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b="1"/>
              <a:t>Servers fulfil the requests </a:t>
            </a:r>
            <a:r>
              <a:rPr lang="en-GB"/>
              <a:t>from the client. </a:t>
            </a:r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Client–server model</a:t>
            </a:r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107</a:t>
            </a:fld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38" name="Google Shape;13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8884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46" name="Google Shape;146;p16"/>
          <p:cNvCxnSpPr>
            <a:stCxn id="138" idx="2"/>
            <a:endCxn id="139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16"/>
          <p:cNvCxnSpPr>
            <a:stCxn id="138" idx="2"/>
            <a:endCxn id="140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16"/>
          <p:cNvCxnSpPr>
            <a:stCxn id="138" idx="2"/>
            <a:endCxn id="141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server </a:t>
            </a:r>
            <a:r>
              <a:rPr lang="en-GB"/>
              <a:t>is often a powerful machine that carries out </a:t>
            </a:r>
            <a:r>
              <a:rPr lang="en-GB" b="1"/>
              <a:t>multiple requests</a:t>
            </a:r>
            <a:r>
              <a:rPr lang="en-GB"/>
              <a:t> from all of the </a:t>
            </a:r>
            <a:r>
              <a:rPr lang="en-GB" b="1"/>
              <a:t>clients </a:t>
            </a:r>
            <a:r>
              <a:rPr lang="en-GB"/>
              <a:t>on the network.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All requests go via the </a:t>
            </a:r>
            <a:r>
              <a:rPr lang="en-GB" b="1"/>
              <a:t>server</a:t>
            </a:r>
            <a:r>
              <a:rPr lang="en-GB"/>
              <a:t>, unlike a peer-to-peer network, where all of the devices can fulfill requests. </a:t>
            </a:r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Client–server model</a:t>
            </a:r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108</a:t>
            </a:fld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65" name="Google Shape;165;p17"/>
          <p:cNvCxnSpPr>
            <a:stCxn id="157" idx="2"/>
            <a:endCxn id="158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17"/>
          <p:cNvCxnSpPr>
            <a:stCxn id="157" idx="2"/>
            <a:endCxn id="159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7"/>
          <p:cNvCxnSpPr>
            <a:stCxn id="157" idx="2"/>
            <a:endCxn id="160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groups of 3, you will take part in an unplugged activity where you act out various scenarios performed using the </a:t>
            </a:r>
            <a:r>
              <a:rPr lang="en-GB" b="1"/>
              <a:t>client–server model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Read your instructions on the </a:t>
            </a:r>
            <a:r>
              <a:rPr lang="en-GB" b="1"/>
              <a:t>activity 1</a:t>
            </a:r>
            <a:r>
              <a:rPr lang="en-GB"/>
              <a:t> sheet carefully to set up the task. </a:t>
            </a:r>
            <a:r>
              <a:rPr lang="en-GB" b="1"/>
              <a:t>Scenario one</a:t>
            </a:r>
            <a:r>
              <a:rPr lang="en-GB"/>
              <a:t> will be completed together using the following slides. </a:t>
            </a:r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Client–server model</a:t>
            </a:r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109</a:t>
            </a:fld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762" y="1093925"/>
            <a:ext cx="3488164" cy="3659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Office worker 1</a:t>
            </a:r>
            <a:r>
              <a:rPr lang="en-GB"/>
              <a:t> sends a request for the file </a:t>
            </a:r>
            <a:r>
              <a:rPr lang="en-GB" b="1"/>
              <a:t>Company_logo.png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Server</a:t>
            </a:r>
            <a:r>
              <a:rPr lang="en-GB"/>
              <a:t> receives the request and sends the file </a:t>
            </a:r>
            <a:r>
              <a:rPr lang="en-GB" b="1"/>
              <a:t>Company_logo.png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Office worker 2</a:t>
            </a:r>
            <a:r>
              <a:rPr lang="en-GB"/>
              <a:t> sends a print request for the file </a:t>
            </a:r>
            <a:r>
              <a:rPr lang="en-GB" b="1"/>
              <a:t>Annual_budget.xls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Server</a:t>
            </a:r>
            <a:r>
              <a:rPr lang="en-GB"/>
              <a:t> actions the print request from </a:t>
            </a:r>
            <a:r>
              <a:rPr lang="en-GB" b="1"/>
              <a:t>Office worker 2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 1</a:t>
            </a:r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110</a:t>
            </a:fld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94" name="Google Shape;194;p19"/>
          <p:cNvCxnSpPr>
            <a:stCxn id="186" idx="2"/>
            <a:endCxn id="187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19"/>
          <p:cNvCxnSpPr>
            <a:stCxn id="186" idx="2"/>
            <a:endCxn id="188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19"/>
          <p:cNvCxnSpPr>
            <a:stCxn id="186" idx="2"/>
            <a:endCxn id="189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/>
              <a:t>(optional) </a:t>
            </a:r>
            <a:r>
              <a:rPr lang="en-GB" b="1"/>
              <a:t>Office worker 3</a:t>
            </a:r>
            <a:r>
              <a:rPr lang="en-GB"/>
              <a:t> sends a request for the file </a:t>
            </a:r>
            <a:r>
              <a:rPr lang="en-GB" b="1"/>
              <a:t>Website_animation.gif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/>
              <a:t>(optional) </a:t>
            </a:r>
            <a:r>
              <a:rPr lang="en-GB" b="1"/>
              <a:t>Server</a:t>
            </a:r>
            <a:r>
              <a:rPr lang="en-GB"/>
              <a:t> receives the request and sends the file </a:t>
            </a:r>
            <a:r>
              <a:rPr lang="en-GB" b="1"/>
              <a:t>Website_animation.gif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 b="1"/>
              <a:t>Office worker 1</a:t>
            </a:r>
            <a:r>
              <a:rPr lang="en-GB"/>
              <a:t> sends a print request for the file </a:t>
            </a:r>
            <a:r>
              <a:rPr lang="en-GB" b="1"/>
              <a:t>Welcome_letter.doc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-GB" b="1"/>
              <a:t>Server</a:t>
            </a:r>
            <a:r>
              <a:rPr lang="en-GB"/>
              <a:t> actions the print request from </a:t>
            </a:r>
            <a:r>
              <a:rPr lang="en-GB" b="1"/>
              <a:t>Office worker 1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 1</a:t>
            </a:r>
            <a:endParaRPr/>
          </a:p>
        </p:txBody>
      </p:sp>
      <p:sp>
        <p:nvSpPr>
          <p:cNvPr id="203" name="Google Shape;203;p2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111</a:t>
            </a:fld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14" name="Google Shape;214;p20"/>
          <p:cNvCxnSpPr>
            <a:stCxn id="206" idx="2"/>
            <a:endCxn id="207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0"/>
          <p:cNvCxnSpPr>
            <a:stCxn id="206" idx="2"/>
            <a:endCxn id="208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0"/>
          <p:cNvCxnSpPr>
            <a:stCxn id="206" idx="2"/>
            <a:endCxn id="209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Office worker 2</a:t>
            </a:r>
            <a:r>
              <a:rPr lang="en-GB"/>
              <a:t> sends a request for the file </a:t>
            </a:r>
            <a:r>
              <a:rPr lang="en-GB" b="1"/>
              <a:t>Customer_database.db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Server </a:t>
            </a:r>
            <a:r>
              <a:rPr lang="en-GB"/>
              <a:t>receives the request and sends the file </a:t>
            </a:r>
            <a:r>
              <a:rPr lang="en-GB" b="1"/>
              <a:t>Customer_database.db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Office worker 1</a:t>
            </a:r>
            <a:r>
              <a:rPr lang="en-GB"/>
              <a:t> requests to print </a:t>
            </a:r>
            <a:r>
              <a:rPr lang="en-GB" b="1"/>
              <a:t>Company_logo.png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-GB" b="1"/>
              <a:t>Server</a:t>
            </a:r>
            <a:r>
              <a:rPr lang="en-GB"/>
              <a:t> actions the request to print </a:t>
            </a:r>
            <a:r>
              <a:rPr lang="en-GB" b="1"/>
              <a:t>Company_logo.png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Scenario 1</a:t>
            </a:r>
            <a:endParaRPr/>
          </a:p>
        </p:txBody>
      </p:sp>
      <p:sp>
        <p:nvSpPr>
          <p:cNvPr id="223" name="Google Shape;223;p2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112</a:t>
            </a:fld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34" name="Google Shape;234;p21"/>
          <p:cNvCxnSpPr>
            <a:stCxn id="226" idx="2"/>
            <a:endCxn id="227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1"/>
          <p:cNvCxnSpPr>
            <a:stCxn id="226" idx="2"/>
            <a:endCxn id="228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1"/>
          <p:cNvCxnSpPr>
            <a:stCxn id="226" idx="2"/>
            <a:endCxn id="229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complete </a:t>
            </a:r>
            <a:r>
              <a:rPr lang="en-GB" b="1"/>
              <a:t>scenarios two</a:t>
            </a:r>
            <a:r>
              <a:rPr lang="en-GB"/>
              <a:t> and </a:t>
            </a:r>
            <a:r>
              <a:rPr lang="en-GB" b="1"/>
              <a:t>three </a:t>
            </a:r>
            <a:r>
              <a:rPr lang="en-GB"/>
              <a:t>in your individual groups.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After completing the scenarios, reflect on the </a:t>
            </a:r>
            <a:r>
              <a:rPr lang="en-GB" b="1"/>
              <a:t>advantages </a:t>
            </a:r>
            <a:r>
              <a:rPr lang="en-GB"/>
              <a:t>and </a:t>
            </a:r>
            <a:r>
              <a:rPr lang="en-GB" b="1"/>
              <a:t>disadvantages </a:t>
            </a:r>
            <a:r>
              <a:rPr lang="en-GB"/>
              <a:t>of using the </a:t>
            </a:r>
            <a:r>
              <a:rPr lang="en-GB" b="1"/>
              <a:t>client–server</a:t>
            </a:r>
            <a:r>
              <a:rPr lang="en-GB"/>
              <a:t> model.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client–server model</a:t>
            </a:r>
            <a:endParaRPr/>
          </a:p>
        </p:txBody>
      </p:sp>
      <p:sp>
        <p:nvSpPr>
          <p:cNvPr id="243" name="Google Shape;243;p2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113</a:t>
            </a:fld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45" name="Google Shape;2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613" y="482900"/>
            <a:ext cx="3714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54" name="Google Shape;254;p22"/>
          <p:cNvCxnSpPr>
            <a:stCxn id="246" idx="2"/>
            <a:endCxn id="247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22"/>
          <p:cNvCxnSpPr>
            <a:stCxn id="246" idx="2"/>
            <a:endCxn id="248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2"/>
          <p:cNvCxnSpPr>
            <a:stCxn id="246" idx="2"/>
            <a:endCxn id="249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Choose </a:t>
            </a:r>
            <a:r>
              <a:rPr lang="en-GB" b="1"/>
              <a:t>one person</a:t>
            </a:r>
            <a:r>
              <a:rPr lang="en-GB"/>
              <a:t> from your group to share the </a:t>
            </a:r>
            <a:r>
              <a:rPr lang="en-GB" b="1"/>
              <a:t>advantages </a:t>
            </a:r>
            <a:r>
              <a:rPr lang="en-GB"/>
              <a:t>and </a:t>
            </a:r>
            <a:r>
              <a:rPr lang="en-GB" b="1"/>
              <a:t>disadvantages </a:t>
            </a:r>
            <a:r>
              <a:rPr lang="en-GB"/>
              <a:t>that you identified whilst completing the activity. 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62" name="Google Shape;262;p2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</a:t>
            </a:r>
            <a:endParaRPr/>
          </a:p>
        </p:txBody>
      </p:sp>
      <p:sp>
        <p:nvSpPr>
          <p:cNvPr id="263" name="Google Shape;263;p2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114</a:t>
            </a:fld>
            <a:endParaRPr/>
          </a:p>
        </p:txBody>
      </p:sp>
      <p:sp>
        <p:nvSpPr>
          <p:cNvPr id="264" name="Google Shape;264;p2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65" name="Google Shape;2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73" name="Google Shape;273;p23"/>
          <p:cNvCxnSpPr>
            <a:stCxn id="265" idx="2"/>
            <a:endCxn id="266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23"/>
          <p:cNvCxnSpPr>
            <a:stCxn id="265" idx="2"/>
            <a:endCxn id="267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3"/>
          <p:cNvCxnSpPr>
            <a:stCxn id="265" idx="2"/>
            <a:endCxn id="268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Advantages: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All of the files are stored on one central server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All of the peripherals are processed via the server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a client machine breaks it won’t affect the whole network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backup can be taken of the server, rather than individual client machines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81" name="Google Shape;281;p2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disadvantages: model answers</a:t>
            </a:r>
            <a:endParaRPr/>
          </a:p>
        </p:txBody>
      </p:sp>
      <p:sp>
        <p:nvSpPr>
          <p:cNvPr id="282" name="Google Shape;282;p2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115</a:t>
            </a:fld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84" name="Google Shape;28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92" name="Google Shape;292;p24"/>
          <p:cNvCxnSpPr>
            <a:stCxn id="284" idx="2"/>
            <a:endCxn id="285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24"/>
          <p:cNvCxnSpPr>
            <a:stCxn id="284" idx="2"/>
            <a:endCxn id="286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24"/>
          <p:cNvCxnSpPr>
            <a:stCxn id="284" idx="2"/>
            <a:endCxn id="287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Disadvantages: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are expensive to set up, compared to stand-alone computers or a peer-to-peer network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specialist network administrator is required to set up the network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the server fails, then everyone connected to that server is disrupted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disadvantages: model answers</a:t>
            </a:r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116</a:t>
            </a:fld>
            <a:endParaRPr/>
          </a:p>
        </p:txBody>
      </p:sp>
      <p:sp>
        <p:nvSpPr>
          <p:cNvPr id="302" name="Google Shape;302;p2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725" y="1354725"/>
            <a:ext cx="790250" cy="135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4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8499" y="3171225"/>
            <a:ext cx="944599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6134600" y="954525"/>
            <a:ext cx="13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Server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47366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63125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7878000" y="37468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icksand"/>
                <a:ea typeface="Quicksand"/>
                <a:cs typeface="Quicksand"/>
                <a:sym typeface="Quicksand"/>
              </a:rPr>
              <a:t>Client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311" name="Google Shape;311;p25"/>
          <p:cNvCxnSpPr>
            <a:stCxn id="303" idx="2"/>
            <a:endCxn id="304" idx="0"/>
          </p:cNvCxnSpPr>
          <p:nvPr/>
        </p:nvCxnSpPr>
        <p:spPr>
          <a:xfrm flipH="1">
            <a:off x="52089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25"/>
          <p:cNvCxnSpPr>
            <a:stCxn id="303" idx="2"/>
            <a:endCxn id="305" idx="0"/>
          </p:cNvCxnSpPr>
          <p:nvPr/>
        </p:nvCxnSpPr>
        <p:spPr>
          <a:xfrm>
            <a:off x="6784850" y="2706224"/>
            <a:ext cx="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25"/>
          <p:cNvCxnSpPr>
            <a:stCxn id="303" idx="2"/>
            <a:endCxn id="306" idx="0"/>
          </p:cNvCxnSpPr>
          <p:nvPr/>
        </p:nvCxnSpPr>
        <p:spPr>
          <a:xfrm>
            <a:off x="6784850" y="2706224"/>
            <a:ext cx="1575900" cy="4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 b="1"/>
              <a:t>client–server model</a:t>
            </a:r>
            <a:r>
              <a:rPr lang="en-GB"/>
              <a:t> is typically used where a central server is required.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For example, a business might need employees to </a:t>
            </a:r>
            <a:r>
              <a:rPr lang="en-GB" b="1"/>
              <a:t>share files</a:t>
            </a:r>
            <a:r>
              <a:rPr lang="en-GB"/>
              <a:t> and </a:t>
            </a:r>
            <a:r>
              <a:rPr lang="en-GB" b="1"/>
              <a:t>software</a:t>
            </a:r>
            <a:r>
              <a:rPr lang="en-GB"/>
              <a:t>. These are stored and accessed via the </a:t>
            </a:r>
            <a:r>
              <a:rPr lang="en-GB" b="1"/>
              <a:t>central server</a:t>
            </a:r>
            <a:r>
              <a:rPr lang="en-GB"/>
              <a:t> to allow for shared access. </a:t>
            </a:r>
            <a:endParaRPr/>
          </a:p>
        </p:txBody>
      </p:sp>
      <p:sp>
        <p:nvSpPr>
          <p:cNvPr id="327" name="Google Shape;327;p2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Peer-to-peer vs client–server model</a:t>
            </a:r>
            <a:endParaRPr/>
          </a:p>
        </p:txBody>
      </p:sp>
      <p:sp>
        <p:nvSpPr>
          <p:cNvPr id="328" name="Google Shape;328;p2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117</a:t>
            </a:fld>
            <a:endParaRPr/>
          </a:p>
        </p:txBody>
      </p:sp>
      <p:sp>
        <p:nvSpPr>
          <p:cNvPr id="329" name="Google Shape;329;p27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30" name="Google Shape;330;p2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331" name="Google Shape;3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25"/>
            <a:ext cx="4096500" cy="273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gaming sites can often use a </a:t>
            </a:r>
            <a:r>
              <a:rPr lang="en-GB" b="1"/>
              <a:t>client–server model</a:t>
            </a:r>
            <a:r>
              <a:rPr lang="en-GB"/>
              <a:t> to provide shared access to an online environment.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All of the players access the gaming environment via the same server. This allows them to play together on the same game in real time. </a:t>
            </a:r>
            <a:endParaRPr/>
          </a:p>
        </p:txBody>
      </p:sp>
      <p:sp>
        <p:nvSpPr>
          <p:cNvPr id="337" name="Google Shape;337;p2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Peer-to-peer vs client–server model</a:t>
            </a:r>
            <a:endParaRPr/>
          </a:p>
        </p:txBody>
      </p:sp>
      <p:sp>
        <p:nvSpPr>
          <p:cNvPr id="338" name="Google Shape;338;p2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118</a:t>
            </a:fld>
            <a:endParaRPr/>
          </a:p>
        </p:txBody>
      </p:sp>
      <p:sp>
        <p:nvSpPr>
          <p:cNvPr id="339" name="Google Shape;339;p28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40" name="Google Shape;340;p2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341" name="Google Shape;3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1" y="1170125"/>
            <a:ext cx="4096502" cy="273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Read the scenarios on the </a:t>
            </a:r>
            <a:r>
              <a:rPr lang="en-GB" b="1"/>
              <a:t>activity 2</a:t>
            </a:r>
            <a:r>
              <a:rPr lang="en-GB"/>
              <a:t> sheet and decide if the people should use the </a:t>
            </a:r>
            <a:r>
              <a:rPr lang="en-GB" b="1"/>
              <a:t>peer-to-peer</a:t>
            </a:r>
            <a:r>
              <a:rPr lang="en-GB"/>
              <a:t> model or the </a:t>
            </a:r>
            <a:r>
              <a:rPr lang="en-GB" b="1"/>
              <a:t>client–server</a:t>
            </a:r>
            <a:r>
              <a:rPr lang="en-GB"/>
              <a:t> model.</a:t>
            </a:r>
            <a:endParaRPr/>
          </a:p>
        </p:txBody>
      </p:sp>
      <p:sp>
        <p:nvSpPr>
          <p:cNvPr id="347" name="Google Shape;347;p2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Peer-to-peer vs client–server model</a:t>
            </a:r>
            <a:endParaRPr/>
          </a:p>
        </p:txBody>
      </p:sp>
      <p:sp>
        <p:nvSpPr>
          <p:cNvPr id="348" name="Google Shape;348;p2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119</a:t>
            </a:fld>
            <a:endParaRPr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350" name="Google Shape;3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750" y="1093925"/>
            <a:ext cx="3548694" cy="3659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44256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two most common </a:t>
            </a:r>
            <a:r>
              <a:rPr lang="en-GB" b="1"/>
              <a:t>models </a:t>
            </a:r>
            <a:r>
              <a:rPr lang="en-GB"/>
              <a:t>for a computer network are </a:t>
            </a:r>
            <a:r>
              <a:rPr lang="en-GB" b="1"/>
              <a:t>peer-to-peer</a:t>
            </a:r>
            <a:r>
              <a:rPr lang="en-GB"/>
              <a:t> and </a:t>
            </a:r>
            <a:r>
              <a:rPr lang="en-GB" b="1"/>
              <a:t>client–server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You can also describe a network by the type of </a:t>
            </a:r>
            <a:r>
              <a:rPr lang="en-GB" b="1"/>
              <a:t>area</a:t>
            </a:r>
            <a:r>
              <a:rPr lang="en-GB"/>
              <a:t> that they operate in.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Firstly, there is a </a:t>
            </a:r>
            <a:r>
              <a:rPr lang="en-GB" b="1"/>
              <a:t>Personal Area Network</a:t>
            </a:r>
            <a:r>
              <a:rPr lang="en-GB"/>
              <a:t> or </a:t>
            </a:r>
            <a:r>
              <a:rPr lang="en-GB" b="1"/>
              <a:t>PAN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is typically limited to a </a:t>
            </a:r>
            <a:r>
              <a:rPr lang="en-GB" b="1"/>
              <a:t>single user</a:t>
            </a:r>
            <a:r>
              <a:rPr lang="en-GB"/>
              <a:t> in the network with multiple connected devices. </a:t>
            </a:r>
            <a:endParaRPr/>
          </a:p>
        </p:txBody>
      </p:sp>
      <p:sp>
        <p:nvSpPr>
          <p:cNvPr id="356" name="Google Shape;356;p3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PANs, LANs, and WANs</a:t>
            </a:r>
            <a:endParaRPr/>
          </a:p>
        </p:txBody>
      </p:sp>
      <p:sp>
        <p:nvSpPr>
          <p:cNvPr id="357" name="Google Shape;357;p3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120</a:t>
            </a:fld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single user</a:t>
            </a:r>
            <a:r>
              <a:rPr lang="en-GB"/>
              <a:t> might have a </a:t>
            </a:r>
            <a:r>
              <a:rPr lang="en-GB" b="1"/>
              <a:t>laptop </a:t>
            </a:r>
            <a:r>
              <a:rPr lang="en-GB"/>
              <a:t>that is connected to a </a:t>
            </a:r>
            <a:r>
              <a:rPr lang="en-GB" b="1"/>
              <a:t>smartphone </a:t>
            </a:r>
            <a:r>
              <a:rPr lang="en-GB"/>
              <a:t>to share the internet access.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user might also have a </a:t>
            </a:r>
            <a:r>
              <a:rPr lang="en-GB" b="1"/>
              <a:t>smartwatch</a:t>
            </a:r>
            <a:r>
              <a:rPr lang="en-GB"/>
              <a:t> that is connected to the </a:t>
            </a:r>
            <a:r>
              <a:rPr lang="en-GB" b="1"/>
              <a:t>smartphone</a:t>
            </a:r>
            <a:r>
              <a:rPr lang="en-GB"/>
              <a:t> to track heart rate, steps, and notify the user of new messages. </a:t>
            </a:r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area network (PAN)</a:t>
            </a:r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121</a:t>
            </a:fld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367" name="Google Shape;3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943" y="1170125"/>
            <a:ext cx="810575" cy="118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6645" y="2791775"/>
            <a:ext cx="1297300" cy="13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2252" y="2910435"/>
            <a:ext cx="1591274" cy="10857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31"/>
          <p:cNvCxnSpPr/>
          <p:nvPr/>
        </p:nvCxnSpPr>
        <p:spPr>
          <a:xfrm flipH="1">
            <a:off x="5709600" y="1973925"/>
            <a:ext cx="622500" cy="84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71" name="Google Shape;371;p31"/>
          <p:cNvCxnSpPr/>
          <p:nvPr/>
        </p:nvCxnSpPr>
        <p:spPr>
          <a:xfrm rot="10800000">
            <a:off x="5890375" y="3640900"/>
            <a:ext cx="12978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second type of area network is a </a:t>
            </a:r>
            <a:r>
              <a:rPr lang="en-GB" b="1"/>
              <a:t>Local Area Network</a:t>
            </a:r>
            <a:r>
              <a:rPr lang="en-GB"/>
              <a:t> or </a:t>
            </a:r>
            <a:r>
              <a:rPr lang="en-GB" b="1"/>
              <a:t>LAN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LAN </a:t>
            </a:r>
            <a:r>
              <a:rPr lang="en-GB"/>
              <a:t>has multiple users and is typically situated in a single building or room. The devices on the network are ‘local’ to each other. 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 small office will typically use a </a:t>
            </a:r>
            <a:r>
              <a:rPr lang="en-GB" b="1"/>
              <a:t>LAN </a:t>
            </a:r>
            <a:r>
              <a:rPr lang="en-GB"/>
              <a:t>to allow for shared access to files and peripherals.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77" name="Google Shape;377;p3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area network (LAN)</a:t>
            </a:r>
            <a:endParaRPr/>
          </a:p>
        </p:txBody>
      </p:sp>
      <p:sp>
        <p:nvSpPr>
          <p:cNvPr id="378" name="Google Shape;378;p3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122</a:t>
            </a:fld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>
            <a:off x="5031125" y="1114000"/>
            <a:ext cx="3503221" cy="3239225"/>
            <a:chOff x="5031125" y="1114000"/>
            <a:chExt cx="3503221" cy="3239225"/>
          </a:xfrm>
        </p:grpSpPr>
        <p:grpSp>
          <p:nvGrpSpPr>
            <p:cNvPr id="381" name="Google Shape;381;p32"/>
            <p:cNvGrpSpPr/>
            <p:nvPr/>
          </p:nvGrpSpPr>
          <p:grpSpPr>
            <a:xfrm>
              <a:off x="5031125" y="1114000"/>
              <a:ext cx="3503221" cy="3239225"/>
              <a:chOff x="5031125" y="1114000"/>
              <a:chExt cx="3503221" cy="3239225"/>
            </a:xfrm>
          </p:grpSpPr>
          <p:pic>
            <p:nvPicPr>
              <p:cNvPr id="382" name="Google Shape;382;p3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031125" y="1114000"/>
                <a:ext cx="3503221" cy="32392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3" name="Google Shape;383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620824" y="2483350"/>
                <a:ext cx="611523" cy="5005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4" name="Google Shape;384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926176" y="3556451"/>
              <a:ext cx="385876" cy="5964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might also see a </a:t>
            </a:r>
            <a:r>
              <a:rPr lang="en-GB" b="1"/>
              <a:t>LAN </a:t>
            </a:r>
            <a:r>
              <a:rPr lang="en-GB"/>
              <a:t>in a household. Members of the household might have laptops, smartphones, computers, and even TVs and smart devices all connected via a </a:t>
            </a:r>
            <a:r>
              <a:rPr lang="en-GB" b="1"/>
              <a:t>LAN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90" name="Google Shape;390;p3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area network (LAN)</a:t>
            </a:r>
            <a:endParaRPr/>
          </a:p>
        </p:txBody>
      </p:sp>
      <p:sp>
        <p:nvSpPr>
          <p:cNvPr id="391" name="Google Shape;391;p3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123</a:t>
            </a:fld>
            <a:endParaRPr/>
          </a:p>
        </p:txBody>
      </p:sp>
      <p:sp>
        <p:nvSpPr>
          <p:cNvPr id="392" name="Google Shape;392;p3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393" name="Google Shape;3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425" y="1170125"/>
            <a:ext cx="4027274" cy="284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final type of computer network is a </a:t>
            </a:r>
            <a:r>
              <a:rPr lang="en-GB" b="1"/>
              <a:t>Wide Area Network</a:t>
            </a:r>
            <a:r>
              <a:rPr lang="en-GB"/>
              <a:t> or </a:t>
            </a:r>
            <a:r>
              <a:rPr lang="en-GB" b="1"/>
              <a:t>WAN</a:t>
            </a:r>
            <a:r>
              <a:rPr lang="en-GB"/>
              <a:t>. When devices are connected across a wider geographical area, they form a wide area network (WAN).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Often, lots of </a:t>
            </a:r>
            <a:r>
              <a:rPr lang="en-GB" b="1"/>
              <a:t>LANs </a:t>
            </a:r>
            <a:r>
              <a:rPr lang="en-GB"/>
              <a:t>are connected together to create a </a:t>
            </a:r>
            <a:r>
              <a:rPr lang="en-GB" b="1"/>
              <a:t>WAN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99" name="Google Shape;399;p3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Wide area network (WAN)</a:t>
            </a:r>
            <a:endParaRPr/>
          </a:p>
        </p:txBody>
      </p:sp>
      <p:sp>
        <p:nvSpPr>
          <p:cNvPr id="400" name="Google Shape;400;p3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124</a:t>
            </a:fld>
            <a:endParaRPr/>
          </a:p>
        </p:txBody>
      </p:sp>
      <p:sp>
        <p:nvSpPr>
          <p:cNvPr id="401" name="Google Shape;401;p3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402" name="Google Shape;4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900" y="1170125"/>
            <a:ext cx="4431800" cy="2954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Large businesses use </a:t>
            </a:r>
            <a:r>
              <a:rPr lang="en-GB" b="1"/>
              <a:t>WANs </a:t>
            </a:r>
            <a:r>
              <a:rPr lang="en-GB"/>
              <a:t>to share files and resources across </a:t>
            </a:r>
            <a:r>
              <a:rPr lang="en-GB" b="1"/>
              <a:t>multiple buildings</a:t>
            </a:r>
            <a:r>
              <a:rPr lang="en-GB"/>
              <a:t> in </a:t>
            </a:r>
            <a:r>
              <a:rPr lang="en-GB" b="1"/>
              <a:t>different locations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They might have an office in Wales and and an office in Scotland, both requiring access to shared files. A </a:t>
            </a:r>
            <a:r>
              <a:rPr lang="en-GB" b="1"/>
              <a:t>WAN </a:t>
            </a:r>
            <a:r>
              <a:rPr lang="en-GB"/>
              <a:t>can make this possible.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08" name="Google Shape;408;p3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Wide area network (WAN)</a:t>
            </a:r>
            <a:endParaRPr/>
          </a:p>
        </p:txBody>
      </p:sp>
      <p:sp>
        <p:nvSpPr>
          <p:cNvPr id="409" name="Google Shape;409;p3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125</a:t>
            </a:fld>
            <a:endParaRPr/>
          </a:p>
        </p:txBody>
      </p:sp>
      <p:sp>
        <p:nvSpPr>
          <p:cNvPr id="410" name="Google Shape;410;p3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1688" y="1017700"/>
            <a:ext cx="2457116" cy="38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/>
          <p:nvPr/>
        </p:nvSpPr>
        <p:spPr>
          <a:xfrm>
            <a:off x="6777825" y="3841700"/>
            <a:ext cx="120300" cy="1203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/>
          <p:cNvSpPr/>
          <p:nvPr/>
        </p:nvSpPr>
        <p:spPr>
          <a:xfrm>
            <a:off x="6930225" y="2089100"/>
            <a:ext cx="120300" cy="1203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7432500" y="1933700"/>
            <a:ext cx="100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Office 1</a:t>
            </a:r>
            <a:endParaRPr b="1"/>
          </a:p>
        </p:txBody>
      </p:sp>
      <p:sp>
        <p:nvSpPr>
          <p:cNvPr id="415" name="Google Shape;415;p35"/>
          <p:cNvSpPr txBox="1"/>
          <p:nvPr/>
        </p:nvSpPr>
        <p:spPr>
          <a:xfrm>
            <a:off x="5293175" y="3686300"/>
            <a:ext cx="100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Office 2</a:t>
            </a:r>
            <a:endParaRPr b="1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</a:t>
            </a:r>
            <a:r>
              <a:rPr lang="en-GB" b="1"/>
              <a:t> activity 3 </a:t>
            </a:r>
            <a:r>
              <a:rPr lang="en-GB"/>
              <a:t>sheet to decide if the image represents a </a:t>
            </a:r>
            <a:r>
              <a:rPr lang="en-GB" b="1"/>
              <a:t>PAN</a:t>
            </a:r>
            <a:r>
              <a:rPr lang="en-GB"/>
              <a:t>, a </a:t>
            </a:r>
            <a:r>
              <a:rPr lang="en-GB" b="1"/>
              <a:t>LAN</a:t>
            </a:r>
            <a:r>
              <a:rPr lang="en-GB"/>
              <a:t>,</a:t>
            </a:r>
            <a:r>
              <a:rPr lang="en-GB" b="1"/>
              <a:t> </a:t>
            </a:r>
            <a:r>
              <a:rPr lang="en-GB"/>
              <a:t>or a </a:t>
            </a:r>
            <a:r>
              <a:rPr lang="en-GB" b="1"/>
              <a:t>WAN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21" name="Google Shape;421;p3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PANs, LANs, and WANs</a:t>
            </a:r>
            <a:endParaRPr/>
          </a:p>
        </p:txBody>
      </p:sp>
      <p:sp>
        <p:nvSpPr>
          <p:cNvPr id="422" name="Google Shape;422;p3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126</a:t>
            </a:fld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424" name="Google Shape;4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902" y="991675"/>
            <a:ext cx="3597801" cy="371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Lesson: Network hardware</a:t>
            </a:r>
            <a:endParaRPr dirty="0"/>
          </a:p>
        </p:txBody>
      </p:sp>
      <p:sp>
        <p:nvSpPr>
          <p:cNvPr id="69" name="Google Shape;69;p12"/>
          <p:cNvSpPr txBox="1">
            <a:spLocks noGrp="1"/>
          </p:cNvSpPr>
          <p:nvPr>
            <p:ph type="subTitle" idx="2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Computer networks</a:t>
            </a:r>
            <a:endParaRPr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may have noticed a </a:t>
            </a:r>
            <a:r>
              <a:rPr lang="en-GB" b="1"/>
              <a:t>wireless access point</a:t>
            </a:r>
            <a:r>
              <a:rPr lang="en-GB"/>
              <a:t> (WAP) in locations that offer ‘free WiFi’ for you to use.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They are typically found in restaurants, shopping centres, and on public transport.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If you have </a:t>
            </a:r>
            <a:r>
              <a:rPr lang="en-GB" b="1"/>
              <a:t>wireless internet </a:t>
            </a:r>
            <a:r>
              <a:rPr lang="en-GB"/>
              <a:t>in your home, you will also have a </a:t>
            </a:r>
            <a:r>
              <a:rPr lang="en-GB" b="1"/>
              <a:t>wireless access point</a:t>
            </a:r>
            <a:r>
              <a:rPr lang="en-GB"/>
              <a:t>. This is often built in to the device provided by your internet supplier.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Wireless access point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128</a:t>
            </a:fld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25"/>
            <a:ext cx="4096500" cy="2726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758" y="3637779"/>
            <a:ext cx="1959974" cy="8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wireless access point (WAP)</a:t>
            </a:r>
            <a:r>
              <a:rPr lang="en-GB"/>
              <a:t> connects to a </a:t>
            </a:r>
            <a:r>
              <a:rPr lang="en-GB" b="1"/>
              <a:t>wired network</a:t>
            </a:r>
            <a:r>
              <a:rPr lang="en-GB"/>
              <a:t> and provides a wireless network radio signal for wireless devices to connect to.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</a:t>
            </a:r>
            <a:r>
              <a:rPr lang="en-GB" b="1"/>
              <a:t>WAP</a:t>
            </a:r>
            <a:r>
              <a:rPr lang="en-GB"/>
              <a:t> provides wireless access to the network. It is </a:t>
            </a:r>
            <a:r>
              <a:rPr lang="en-GB" b="1"/>
              <a:t>not</a:t>
            </a:r>
            <a:r>
              <a:rPr lang="en-GB"/>
              <a:t> the device that provides internet access, that job is for another device. 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Wireless access point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129</a:t>
            </a:fld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075" y="3067452"/>
            <a:ext cx="1780051" cy="12738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8"/>
          <p:cNvCxnSpPr/>
          <p:nvPr/>
        </p:nvCxnSpPr>
        <p:spPr>
          <a:xfrm rot="10800000" flipH="1">
            <a:off x="6181900" y="2729825"/>
            <a:ext cx="1056600" cy="8442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6458" y="1658104"/>
            <a:ext cx="1959974" cy="8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Routers</a:t>
            </a:r>
            <a:r>
              <a:rPr lang="en-GB"/>
              <a:t> are responsible for moving data from one network to another.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 common use for a </a:t>
            </a:r>
            <a:r>
              <a:rPr lang="en-GB" b="1"/>
              <a:t>router </a:t>
            </a:r>
            <a:r>
              <a:rPr lang="en-GB"/>
              <a:t>is to connect a </a:t>
            </a:r>
            <a:r>
              <a:rPr lang="en-GB" b="1"/>
              <a:t>network </a:t>
            </a:r>
            <a:r>
              <a:rPr lang="en-GB"/>
              <a:t>to the </a:t>
            </a:r>
            <a:r>
              <a:rPr lang="en-GB" b="1"/>
              <a:t>internet </a:t>
            </a:r>
            <a:r>
              <a:rPr lang="en-GB"/>
              <a:t>(which is also a network). 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Router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130</a:t>
            </a:fld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721" y="1170134"/>
            <a:ext cx="2747976" cy="205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1575" y="3277400"/>
            <a:ext cx="2229375" cy="139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connect wirelessly to the internet, you need a </a:t>
            </a:r>
            <a:r>
              <a:rPr lang="en-GB" b="1"/>
              <a:t>wireless access point</a:t>
            </a:r>
            <a:r>
              <a:rPr lang="en-GB"/>
              <a:t> </a:t>
            </a:r>
            <a:r>
              <a:rPr lang="en-GB" u="sng"/>
              <a:t>and</a:t>
            </a:r>
            <a:r>
              <a:rPr lang="en-GB"/>
              <a:t> a </a:t>
            </a:r>
            <a:r>
              <a:rPr lang="en-GB" b="1"/>
              <a:t>router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These are often built into the same device. 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Router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131</a:t>
            </a:fld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050" y="3618832"/>
            <a:ext cx="1111325" cy="79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8900" y="734013"/>
            <a:ext cx="1111325" cy="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7600067" y="948033"/>
            <a:ext cx="91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Quicksand"/>
                <a:ea typeface="Quicksand"/>
                <a:cs typeface="Quicksand"/>
                <a:sym typeface="Quicksand"/>
              </a:rPr>
              <a:t>Internet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 rot="10800000" flipH="1">
            <a:off x="5720400" y="3267225"/>
            <a:ext cx="279300" cy="33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20"/>
          <p:cNvCxnSpPr/>
          <p:nvPr/>
        </p:nvCxnSpPr>
        <p:spPr>
          <a:xfrm rot="10800000" flipH="1">
            <a:off x="6631300" y="2168025"/>
            <a:ext cx="267300" cy="33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0"/>
          <p:cNvCxnSpPr/>
          <p:nvPr/>
        </p:nvCxnSpPr>
        <p:spPr>
          <a:xfrm rot="10800000" flipH="1">
            <a:off x="7438900" y="1420750"/>
            <a:ext cx="279600" cy="30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58" name="Google Shape;15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5575" y="1698525"/>
            <a:ext cx="838702" cy="52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5877" y="2596626"/>
            <a:ext cx="1387624" cy="5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switch </a:t>
            </a:r>
            <a:r>
              <a:rPr lang="en-GB"/>
              <a:t>is required if there are multiple </a:t>
            </a:r>
            <a:r>
              <a:rPr lang="en-GB" b="1"/>
              <a:t>wired </a:t>
            </a:r>
            <a:r>
              <a:rPr lang="en-GB"/>
              <a:t>connections on the network.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</a:t>
            </a:r>
            <a:r>
              <a:rPr lang="en-GB" b="1"/>
              <a:t>switch </a:t>
            </a:r>
            <a:r>
              <a:rPr lang="en-GB"/>
              <a:t>is responsible for connecting data to the </a:t>
            </a:r>
            <a:r>
              <a:rPr lang="en-GB" b="1"/>
              <a:t>correct</a:t>
            </a:r>
            <a:r>
              <a:rPr lang="en-GB"/>
              <a:t> </a:t>
            </a:r>
            <a:r>
              <a:rPr lang="en-GB" b="1"/>
              <a:t>wired</a:t>
            </a:r>
            <a:r>
              <a:rPr lang="en-GB"/>
              <a:t> device.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Switch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132</a:t>
            </a:fld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l="414" t="48760" r="24176" b="14403"/>
          <a:stretch/>
        </p:blipFill>
        <p:spPr>
          <a:xfrm>
            <a:off x="4736600" y="1170125"/>
            <a:ext cx="4096500" cy="133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275" y="3027099"/>
            <a:ext cx="2004701" cy="89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switch </a:t>
            </a:r>
            <a:r>
              <a:rPr lang="en-GB"/>
              <a:t>is only required if there are wired devices on the network.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 </a:t>
            </a:r>
            <a:r>
              <a:rPr lang="en-GB" b="1"/>
              <a:t>wireless access point</a:t>
            </a:r>
            <a:r>
              <a:rPr lang="en-GB"/>
              <a:t> will connect data to the </a:t>
            </a:r>
            <a:r>
              <a:rPr lang="en-GB" b="1"/>
              <a:t>correct wireless</a:t>
            </a:r>
            <a:r>
              <a:rPr lang="en-GB"/>
              <a:t> device.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Switch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133</a:t>
            </a:fld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l="414" t="48760" r="24176" b="14403"/>
          <a:stretch/>
        </p:blipFill>
        <p:spPr>
          <a:xfrm>
            <a:off x="4736600" y="1170125"/>
            <a:ext cx="4096500" cy="133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275" y="3027099"/>
            <a:ext cx="2004701" cy="89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3024150" y="1263100"/>
            <a:ext cx="3060600" cy="3200400"/>
          </a:xfrm>
          <a:prstGeom prst="rect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symbols is used for a router?</a:t>
            </a:r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134</a:t>
            </a:fld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3959350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Router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747525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Switch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7171175" y="3437125"/>
            <a:ext cx="73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WAP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0" y="2055813"/>
            <a:ext cx="2320177" cy="10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600" y="1917500"/>
            <a:ext cx="2229375" cy="139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3199" y="2055824"/>
            <a:ext cx="2229377" cy="92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3024150" y="1263100"/>
            <a:ext cx="3060600" cy="3200400"/>
          </a:xfrm>
          <a:prstGeom prst="rect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title"/>
          </p:nvPr>
        </p:nvSpPr>
        <p:spPr>
          <a:xfrm>
            <a:off x="311400" y="4714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device is used to connect a network to another network?</a:t>
            </a:r>
            <a:endParaRPr/>
          </a:p>
        </p:txBody>
      </p:sp>
      <p:sp>
        <p:nvSpPr>
          <p:cNvPr id="226" name="Google Shape;226;p2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135</a:t>
            </a:fld>
            <a:endParaRPr/>
          </a:p>
        </p:txBody>
      </p:sp>
      <p:sp>
        <p:nvSpPr>
          <p:cNvPr id="227" name="Google Shape;227;p2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3959350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Router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747525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Switch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7171175" y="3437125"/>
            <a:ext cx="73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WAP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31" name="Google Shape;2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0" y="2055813"/>
            <a:ext cx="2320177" cy="10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600" y="1917500"/>
            <a:ext cx="2229375" cy="139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3199" y="2055824"/>
            <a:ext cx="2229377" cy="92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/>
          <p:nvPr/>
        </p:nvSpPr>
        <p:spPr>
          <a:xfrm>
            <a:off x="480775" y="1289300"/>
            <a:ext cx="2555400" cy="3200400"/>
          </a:xfrm>
          <a:prstGeom prst="rect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device sends data to the correct </a:t>
            </a:r>
            <a:r>
              <a:rPr lang="en-GB" u="sng"/>
              <a:t>wired</a:t>
            </a:r>
            <a:r>
              <a:rPr lang="en-GB"/>
              <a:t> device?</a:t>
            </a:r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136</a:t>
            </a:fld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55" name="Google Shape;255;p28"/>
          <p:cNvSpPr txBox="1"/>
          <p:nvPr/>
        </p:nvSpPr>
        <p:spPr>
          <a:xfrm>
            <a:off x="3959350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Router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747525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Switch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7171175" y="3437125"/>
            <a:ext cx="73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WAP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58" name="Google Shape;2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0" y="2055813"/>
            <a:ext cx="2320177" cy="10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600" y="1917500"/>
            <a:ext cx="2229375" cy="139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3199" y="2055824"/>
            <a:ext cx="2229377" cy="92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/>
          <p:nvPr/>
        </p:nvSpPr>
        <p:spPr>
          <a:xfrm>
            <a:off x="6550188" y="1263100"/>
            <a:ext cx="2555400" cy="3200400"/>
          </a:xfrm>
          <a:prstGeom prst="rect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device connects a wireless device to a network?</a:t>
            </a:r>
            <a:endParaRPr/>
          </a:p>
        </p:txBody>
      </p:sp>
      <p:sp>
        <p:nvSpPr>
          <p:cNvPr id="280" name="Google Shape;280;p3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137</a:t>
            </a:fld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3959350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Router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>
            <a:off x="747525" y="3437125"/>
            <a:ext cx="10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Switch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7171175" y="3437125"/>
            <a:ext cx="73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WAP</a:t>
            </a:r>
            <a:endParaRPr sz="18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0" y="2055813"/>
            <a:ext cx="2320177" cy="10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600" y="1917500"/>
            <a:ext cx="2229375" cy="139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3199" y="2055824"/>
            <a:ext cx="2229377" cy="92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hub </a:t>
            </a:r>
            <a:r>
              <a:rPr lang="en-GB"/>
              <a:t>can be used to </a:t>
            </a:r>
            <a:r>
              <a:rPr lang="en-GB" b="1"/>
              <a:t>connect multiple wired devices</a:t>
            </a:r>
            <a:r>
              <a:rPr lang="en-GB"/>
              <a:t> together.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 hub will take any incoming data and </a:t>
            </a:r>
            <a:r>
              <a:rPr lang="en-GB" b="1"/>
              <a:t>broadcast</a:t>
            </a:r>
            <a:r>
              <a:rPr lang="en-GB"/>
              <a:t> (copy and send) it to all other devices connected to the hub. </a:t>
            </a:r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Hub</a:t>
            </a:r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138</a:t>
            </a:fld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96" name="Google Shape;2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64850"/>
            <a:ext cx="4096500" cy="2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575" y="3098325"/>
            <a:ext cx="2044507" cy="16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Hubs </a:t>
            </a:r>
            <a:r>
              <a:rPr lang="en-GB"/>
              <a:t>were seen as a cheaper alternative to </a:t>
            </a:r>
            <a:r>
              <a:rPr lang="en-GB" b="1"/>
              <a:t>switches </a:t>
            </a:r>
            <a:r>
              <a:rPr lang="en-GB"/>
              <a:t>in the early stages of network design.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There are potential security risks with a hub because the data is broadcast to </a:t>
            </a:r>
            <a:r>
              <a:rPr lang="en-GB" b="1"/>
              <a:t>all devices</a:t>
            </a:r>
            <a:r>
              <a:rPr lang="en-GB"/>
              <a:t> instead of the specific device that needs it.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b="1"/>
              <a:t>Switches </a:t>
            </a:r>
            <a:r>
              <a:rPr lang="en-GB"/>
              <a:t>are much cheaper nowadays and are often used instead of </a:t>
            </a:r>
            <a:r>
              <a:rPr lang="en-GB" b="1"/>
              <a:t>hubs</a:t>
            </a:r>
            <a:r>
              <a:rPr lang="en-GB"/>
              <a:t>. </a:t>
            </a:r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Hub</a:t>
            </a:r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139</a:t>
            </a:fld>
            <a:endParaRPr/>
          </a:p>
        </p:txBody>
      </p:sp>
      <p:sp>
        <p:nvSpPr>
          <p:cNvPr id="305" name="Google Shape;305;p3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306" name="Google Shape;3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64850"/>
            <a:ext cx="4096500" cy="2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575" y="3098325"/>
            <a:ext cx="2044507" cy="16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A </a:t>
            </a:r>
            <a:r>
              <a:rPr lang="en-GB" b="1"/>
              <a:t>network interface card</a:t>
            </a:r>
            <a:r>
              <a:rPr lang="en-GB"/>
              <a:t> (NIC) enables a wired network connection between a </a:t>
            </a:r>
            <a:r>
              <a:rPr lang="en-GB" b="1"/>
              <a:t>computer </a:t>
            </a:r>
            <a:r>
              <a:rPr lang="en-GB"/>
              <a:t>and another </a:t>
            </a:r>
            <a:r>
              <a:rPr lang="en-GB" b="1"/>
              <a:t>networked device</a:t>
            </a:r>
            <a:r>
              <a:rPr lang="en-GB"/>
              <a:t>. </a:t>
            </a:r>
            <a:endParaRPr/>
          </a:p>
        </p:txBody>
      </p:sp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interface card (NIC)</a:t>
            </a:r>
            <a:endParaRPr/>
          </a:p>
        </p:txBody>
      </p:sp>
      <p:sp>
        <p:nvSpPr>
          <p:cNvPr id="314" name="Google Shape;314;p3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140</a:t>
            </a:fld>
            <a:endParaRPr/>
          </a:p>
        </p:txBody>
      </p:sp>
      <p:sp>
        <p:nvSpPr>
          <p:cNvPr id="315" name="Google Shape;315;p3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316" name="Google Shape;3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600" y="1289300"/>
            <a:ext cx="3372676" cy="29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</a:t>
            </a:r>
            <a:r>
              <a:rPr lang="en-GB" b="1"/>
              <a:t>network interface card</a:t>
            </a:r>
            <a:r>
              <a:rPr lang="en-GB"/>
              <a:t> has a unique address called a </a:t>
            </a:r>
            <a:r>
              <a:rPr lang="en-GB" b="1"/>
              <a:t>MAC address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MAC stands for </a:t>
            </a:r>
            <a:r>
              <a:rPr lang="en-GB" b="1"/>
              <a:t>media access control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unique, physical address is used to locate devices on the network. </a:t>
            </a:r>
            <a:endParaRPr/>
          </a:p>
        </p:txBody>
      </p:sp>
      <p:sp>
        <p:nvSpPr>
          <p:cNvPr id="339" name="Google Shape;339;p35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interface card (NIC)</a:t>
            </a:r>
            <a:endParaRPr/>
          </a:p>
        </p:txBody>
      </p:sp>
      <p:sp>
        <p:nvSpPr>
          <p:cNvPr id="340" name="Google Shape;340;p3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141</a:t>
            </a:fld>
            <a:endParaRPr/>
          </a:p>
        </p:txBody>
      </p:sp>
      <p:sp>
        <p:nvSpPr>
          <p:cNvPr id="341" name="Google Shape;341;p35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600" y="1289300"/>
            <a:ext cx="3372676" cy="29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 b="1"/>
              <a:t>bridge </a:t>
            </a:r>
            <a:r>
              <a:rPr lang="en-GB"/>
              <a:t>is used to connect a </a:t>
            </a:r>
            <a:r>
              <a:rPr lang="en-GB" b="1"/>
              <a:t>LAN </a:t>
            </a:r>
            <a:r>
              <a:rPr lang="en-GB"/>
              <a:t>to another </a:t>
            </a:r>
            <a:r>
              <a:rPr lang="en-GB" b="1"/>
              <a:t>LAN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When a network becomes too large it can cause lots of traffic as data moves through it.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 </a:t>
            </a:r>
            <a:r>
              <a:rPr lang="en-GB" b="1"/>
              <a:t>bridge </a:t>
            </a:r>
            <a:r>
              <a:rPr lang="en-GB"/>
              <a:t>helps to reduce the traffic by segmenting the network. </a:t>
            </a:r>
            <a:endParaRPr/>
          </a:p>
        </p:txBody>
      </p:sp>
      <p:sp>
        <p:nvSpPr>
          <p:cNvPr id="348" name="Google Shape;348;p3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Bridge</a:t>
            </a:r>
            <a:endParaRPr/>
          </a:p>
        </p:txBody>
      </p:sp>
      <p:sp>
        <p:nvSpPr>
          <p:cNvPr id="349" name="Google Shape;349;p3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142</a:t>
            </a:fld>
            <a:endParaRPr/>
          </a:p>
        </p:txBody>
      </p:sp>
      <p:sp>
        <p:nvSpPr>
          <p:cNvPr id="350" name="Google Shape;350;p3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351" name="Google Shape;3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863" y="1170125"/>
            <a:ext cx="3453974" cy="1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2100" y="2581900"/>
            <a:ext cx="2517624" cy="194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b="1"/>
              <a:t>Data </a:t>
            </a:r>
            <a:r>
              <a:rPr lang="en-GB"/>
              <a:t>will only pass through the bridge to the other segment or LAN if it is required by that part of the network. </a:t>
            </a:r>
            <a:endParaRPr/>
          </a:p>
        </p:txBody>
      </p:sp>
      <p:sp>
        <p:nvSpPr>
          <p:cNvPr id="358" name="Google Shape;358;p37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Bridge</a:t>
            </a:r>
            <a:endParaRPr/>
          </a:p>
        </p:txBody>
      </p:sp>
      <p:sp>
        <p:nvSpPr>
          <p:cNvPr id="359" name="Google Shape;359;p3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143</a:t>
            </a:fld>
            <a:endParaRPr/>
          </a:p>
        </p:txBody>
      </p:sp>
      <p:sp>
        <p:nvSpPr>
          <p:cNvPr id="360" name="Google Shape;360;p37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361" name="Google Shape;3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975" y="2291075"/>
            <a:ext cx="6578926" cy="178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7374" y="2242050"/>
            <a:ext cx="1564150" cy="7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7"/>
          <p:cNvSpPr/>
          <p:nvPr/>
        </p:nvSpPr>
        <p:spPr>
          <a:xfrm>
            <a:off x="3295475" y="3104425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4" name="Google Shape;364;p37"/>
          <p:cNvCxnSpPr>
            <a:stCxn id="363" idx="0"/>
            <a:endCxn id="362" idx="1"/>
          </p:cNvCxnSpPr>
          <p:nvPr/>
        </p:nvCxnSpPr>
        <p:spPr>
          <a:xfrm rot="-5400000">
            <a:off x="3598475" y="2355625"/>
            <a:ext cx="471300" cy="10263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5" name="Google Shape;365;p37"/>
          <p:cNvSpPr/>
          <p:nvPr/>
        </p:nvSpPr>
        <p:spPr>
          <a:xfrm>
            <a:off x="6892600" y="3082150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6" name="Google Shape;366;p37"/>
          <p:cNvCxnSpPr>
            <a:stCxn id="365" idx="0"/>
            <a:endCxn id="362" idx="3"/>
          </p:cNvCxnSpPr>
          <p:nvPr/>
        </p:nvCxnSpPr>
        <p:spPr>
          <a:xfrm rot="5400000" flipH="1">
            <a:off x="6190300" y="2354350"/>
            <a:ext cx="449100" cy="10065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>
            <a:spLocks noGrp="1"/>
          </p:cNvSpPr>
          <p:nvPr>
            <p:ph type="title"/>
          </p:nvPr>
        </p:nvSpPr>
        <p:spPr>
          <a:xfrm>
            <a:off x="311400" y="495725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device broadcasts data to all wired devices attached to it?</a:t>
            </a:r>
            <a:endParaRPr/>
          </a:p>
        </p:txBody>
      </p:sp>
      <p:sp>
        <p:nvSpPr>
          <p:cNvPr id="384" name="Google Shape;384;p3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144</a:t>
            </a:fld>
            <a:endParaRPr/>
          </a:p>
        </p:txBody>
      </p:sp>
      <p:sp>
        <p:nvSpPr>
          <p:cNvPr id="385" name="Google Shape;385;p39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386" name="Google Shape;386;p39"/>
          <p:cNvSpPr/>
          <p:nvPr/>
        </p:nvSpPr>
        <p:spPr>
          <a:xfrm>
            <a:off x="3295475" y="3104425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9"/>
          <p:cNvSpPr/>
          <p:nvPr/>
        </p:nvSpPr>
        <p:spPr>
          <a:xfrm>
            <a:off x="6892600" y="3082150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9"/>
          <p:cNvSpPr/>
          <p:nvPr/>
        </p:nvSpPr>
        <p:spPr>
          <a:xfrm>
            <a:off x="607825" y="1572800"/>
            <a:ext cx="2240700" cy="22407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Hub</a:t>
            </a:r>
            <a:endParaRPr sz="24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>
            <a:spLocks noGrp="1"/>
          </p:cNvSpPr>
          <p:nvPr>
            <p:ph type="title"/>
          </p:nvPr>
        </p:nvSpPr>
        <p:spPr>
          <a:xfrm>
            <a:off x="311400" y="495725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device links one LAN to another LAN?</a:t>
            </a:r>
            <a:endParaRPr/>
          </a:p>
        </p:txBody>
      </p:sp>
      <p:sp>
        <p:nvSpPr>
          <p:cNvPr id="406" name="Google Shape;406;p4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145</a:t>
            </a:fld>
            <a:endParaRPr/>
          </a:p>
        </p:txBody>
      </p:sp>
      <p:sp>
        <p:nvSpPr>
          <p:cNvPr id="407" name="Google Shape;407;p41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408" name="Google Shape;408;p41"/>
          <p:cNvSpPr/>
          <p:nvPr/>
        </p:nvSpPr>
        <p:spPr>
          <a:xfrm>
            <a:off x="3295475" y="3104425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1"/>
          <p:cNvSpPr/>
          <p:nvPr/>
        </p:nvSpPr>
        <p:spPr>
          <a:xfrm>
            <a:off x="6892600" y="3082150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1"/>
          <p:cNvSpPr/>
          <p:nvPr/>
        </p:nvSpPr>
        <p:spPr>
          <a:xfrm>
            <a:off x="6175825" y="1572800"/>
            <a:ext cx="2240700" cy="22407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Bridge</a:t>
            </a:r>
            <a:endParaRPr sz="24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311400" y="495725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device has a unique MAC address to make it identifiable on a network?</a:t>
            </a:r>
            <a:endParaRPr/>
          </a:p>
        </p:txBody>
      </p:sp>
      <p:sp>
        <p:nvSpPr>
          <p:cNvPr id="428" name="Google Shape;428;p4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146</a:t>
            </a:fld>
            <a:endParaRPr/>
          </a:p>
        </p:txBody>
      </p:sp>
      <p:sp>
        <p:nvSpPr>
          <p:cNvPr id="429" name="Google Shape;429;p43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430" name="Google Shape;430;p43"/>
          <p:cNvSpPr/>
          <p:nvPr/>
        </p:nvSpPr>
        <p:spPr>
          <a:xfrm>
            <a:off x="3295475" y="3104425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3"/>
          <p:cNvSpPr/>
          <p:nvPr/>
        </p:nvSpPr>
        <p:spPr>
          <a:xfrm>
            <a:off x="6892600" y="3082150"/>
            <a:ext cx="51000" cy="49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3"/>
          <p:cNvSpPr/>
          <p:nvPr/>
        </p:nvSpPr>
        <p:spPr>
          <a:xfrm>
            <a:off x="3451650" y="1572800"/>
            <a:ext cx="2240700" cy="22407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NIC</a:t>
            </a:r>
            <a:endParaRPr sz="24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</a:t>
            </a:r>
            <a:r>
              <a:rPr lang="en-GB" b="1"/>
              <a:t>activity 2 sheet</a:t>
            </a:r>
            <a:r>
              <a:rPr lang="en-GB"/>
              <a:t> to decide which hardware items are missing from the networks based on the scenarios.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You will also be required to design your own networks for given scenarios. </a:t>
            </a:r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Selecting hardware for a network</a:t>
            </a:r>
            <a:endParaRPr/>
          </a:p>
        </p:txBody>
      </p:sp>
      <p:sp>
        <p:nvSpPr>
          <p:cNvPr id="439" name="Google Shape;439;p4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147</a:t>
            </a:fld>
            <a:endParaRPr/>
          </a:p>
        </p:txBody>
      </p:sp>
      <p:sp>
        <p:nvSpPr>
          <p:cNvPr id="440" name="Google Shape;440;p4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441" name="Google Shape;44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932" y="1170127"/>
            <a:ext cx="3858970" cy="20213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I connect LANs to other LANs on a network. I am also used to segment large LANs to reduce traffic across the network. </a:t>
            </a:r>
            <a:endParaRPr/>
          </a:p>
        </p:txBody>
      </p:sp>
      <p:sp>
        <p:nvSpPr>
          <p:cNvPr id="455" name="Google Shape;455;p46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am I?</a:t>
            </a:r>
            <a:endParaRPr/>
          </a:p>
        </p:txBody>
      </p:sp>
      <p:sp>
        <p:nvSpPr>
          <p:cNvPr id="456" name="Google Shape;456;p4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148</a:t>
            </a:fld>
            <a:endParaRPr/>
          </a:p>
        </p:txBody>
      </p:sp>
      <p:sp>
        <p:nvSpPr>
          <p:cNvPr id="457" name="Google Shape;457;p46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Bridge</a:t>
            </a:r>
            <a:endParaRPr sz="3000" b="1"/>
          </a:p>
        </p:txBody>
      </p:sp>
      <p:sp>
        <p:nvSpPr>
          <p:cNvPr id="458" name="Google Shape;458;p46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I am needed if you want to connect any device to the internet. </a:t>
            </a:r>
            <a:endParaRPr/>
          </a:p>
        </p:txBody>
      </p:sp>
      <p:sp>
        <p:nvSpPr>
          <p:cNvPr id="472" name="Google Shape;472;p48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am I?</a:t>
            </a:r>
            <a:endParaRPr/>
          </a:p>
        </p:txBody>
      </p:sp>
      <p:sp>
        <p:nvSpPr>
          <p:cNvPr id="473" name="Google Shape;473;p4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149</a:t>
            </a:fld>
            <a:endParaRPr/>
          </a:p>
        </p:txBody>
      </p:sp>
      <p:sp>
        <p:nvSpPr>
          <p:cNvPr id="474" name="Google Shape;474;p48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475" name="Google Shape;475;p48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Router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I am used to securely connect wired devices to each other over a network. </a:t>
            </a:r>
            <a:endParaRPr/>
          </a:p>
        </p:txBody>
      </p:sp>
      <p:sp>
        <p:nvSpPr>
          <p:cNvPr id="489" name="Google Shape;489;p50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am I?</a:t>
            </a:r>
            <a:endParaRPr/>
          </a:p>
        </p:txBody>
      </p:sp>
      <p:sp>
        <p:nvSpPr>
          <p:cNvPr id="490" name="Google Shape;490;p5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150</a:t>
            </a:fld>
            <a:endParaRPr/>
          </a:p>
        </p:txBody>
      </p:sp>
      <p:sp>
        <p:nvSpPr>
          <p:cNvPr id="491" name="Google Shape;491;p50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492" name="Google Shape;492;p50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Switch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2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If you are going to connect wireless devices to your network then you are going to need me!</a:t>
            </a:r>
            <a:endParaRPr/>
          </a:p>
        </p:txBody>
      </p:sp>
      <p:sp>
        <p:nvSpPr>
          <p:cNvPr id="506" name="Google Shape;506;p52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am I?</a:t>
            </a:r>
            <a:endParaRPr/>
          </a:p>
        </p:txBody>
      </p:sp>
      <p:sp>
        <p:nvSpPr>
          <p:cNvPr id="507" name="Google Shape;507;p5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151</a:t>
            </a:fld>
            <a:endParaRPr/>
          </a:p>
        </p:txBody>
      </p:sp>
      <p:sp>
        <p:nvSpPr>
          <p:cNvPr id="508" name="Google Shape;508;p52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509" name="Google Shape;509;p52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/>
              <a:t>Wireless Access Point</a:t>
            </a:r>
            <a:endParaRPr sz="3000" b="1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3000" b="1"/>
              <a:t>(WAP)</a:t>
            </a:r>
            <a:endParaRPr sz="3000" b="1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4"/>
          <p:cNvSpPr txBox="1">
            <a:spLocks noGrp="1"/>
          </p:cNvSpPr>
          <p:nvPr>
            <p:ph type="body" idx="1"/>
          </p:nvPr>
        </p:nvSpPr>
        <p:spPr>
          <a:xfrm>
            <a:off x="310900" y="10177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I must be unique so that I can be identified across a network. </a:t>
            </a:r>
            <a:endParaRPr/>
          </a:p>
        </p:txBody>
      </p:sp>
      <p:sp>
        <p:nvSpPr>
          <p:cNvPr id="523" name="Google Shape;523;p54"/>
          <p:cNvSpPr txBox="1">
            <a:spLocks noGrp="1"/>
          </p:cNvSpPr>
          <p:nvPr>
            <p:ph type="title"/>
          </p:nvPr>
        </p:nvSpPr>
        <p:spPr>
          <a:xfrm>
            <a:off x="310900" y="313512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am I?</a:t>
            </a:r>
            <a:endParaRPr/>
          </a:p>
        </p:txBody>
      </p:sp>
      <p:sp>
        <p:nvSpPr>
          <p:cNvPr id="524" name="Google Shape;524;p5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152</a:t>
            </a:fld>
            <a:endParaRPr/>
          </a:p>
        </p:txBody>
      </p:sp>
      <p:sp>
        <p:nvSpPr>
          <p:cNvPr id="525" name="Google Shape;525;p54"/>
          <p:cNvSpPr txBox="1">
            <a:spLocks noGrp="1"/>
          </p:cNvSpPr>
          <p:nvPr>
            <p:ph type="subTitle" idx="3"/>
          </p:nvPr>
        </p:nvSpPr>
        <p:spPr>
          <a:xfrm>
            <a:off x="6840000" y="0"/>
            <a:ext cx="1959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526" name="Google Shape;526;p54"/>
          <p:cNvSpPr txBox="1">
            <a:spLocks noGrp="1"/>
          </p:cNvSpPr>
          <p:nvPr>
            <p:ph type="body" idx="2"/>
          </p:nvPr>
        </p:nvSpPr>
        <p:spPr>
          <a:xfrm>
            <a:off x="4736600" y="1017700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/>
              <a:t>MAC address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PF Curriculum Slides">
  <a:themeElements>
    <a:clrScheme name="Simple Light">
      <a:dk1>
        <a:srgbClr val="000000"/>
      </a:dk1>
      <a:lt1>
        <a:srgbClr val="FFFFFF"/>
      </a:lt1>
      <a:dk2>
        <a:srgbClr val="F7F6FB"/>
      </a:dk2>
      <a:lt2>
        <a:srgbClr val="F2FCFC"/>
      </a:lt2>
      <a:accent1>
        <a:srgbClr val="F1FAFF"/>
      </a:accent1>
      <a:accent2>
        <a:srgbClr val="FFF8F3"/>
      </a:accent2>
      <a:accent3>
        <a:srgbClr val="FFFEF2"/>
      </a:accent3>
      <a:accent4>
        <a:srgbClr val="F5FBF5"/>
      </a:accent4>
      <a:accent5>
        <a:srgbClr val="F5FBF5"/>
      </a:accent5>
      <a:accent6>
        <a:srgbClr val="CD2355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553CB9B82C3947A68B7DCEEBDE16D1" ma:contentTypeVersion="3" ma:contentTypeDescription="Create a new document." ma:contentTypeScope="" ma:versionID="72c3a720f036ffa8ec51420d442e99fc">
  <xsd:schema xmlns:xsd="http://www.w3.org/2001/XMLSchema" xmlns:xs="http://www.w3.org/2001/XMLSchema" xmlns:p="http://schemas.microsoft.com/office/2006/metadata/properties" xmlns:ns2="43e6b4cf-48b7-4b4b-8724-db7962422d26" targetNamespace="http://schemas.microsoft.com/office/2006/metadata/properties" ma:root="true" ma:fieldsID="e3ddc65b2828fcfa37a2fe166bb9923a" ns2:_="">
    <xsd:import namespace="43e6b4cf-48b7-4b4b-8724-db7962422d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e6b4cf-48b7-4b4b-8724-db7962422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A300B5-D156-492B-AFC8-891B30F0C8DB}"/>
</file>

<file path=customXml/itemProps2.xml><?xml version="1.0" encoding="utf-8"?>
<ds:datastoreItem xmlns:ds="http://schemas.openxmlformats.org/officeDocument/2006/customXml" ds:itemID="{125D7AB4-6F0D-43DA-BEE7-29F5FC8B51A2}"/>
</file>

<file path=customXml/itemProps3.xml><?xml version="1.0" encoding="utf-8"?>
<ds:datastoreItem xmlns:ds="http://schemas.openxmlformats.org/officeDocument/2006/customXml" ds:itemID="{C1D838C2-28FB-4DE5-A56A-859BC6CDBAA3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7812</Words>
  <Application>Microsoft Office PowerPoint</Application>
  <PresentationFormat>On-screen Show (16:9)</PresentationFormat>
  <Paragraphs>1235</Paragraphs>
  <Slides>152</Slides>
  <Notes>152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7" baseType="lpstr">
      <vt:lpstr>Arial</vt:lpstr>
      <vt:lpstr>Roboto Mono</vt:lpstr>
      <vt:lpstr>Quicksand Medium</vt:lpstr>
      <vt:lpstr>Quicksand</vt:lpstr>
      <vt:lpstr>RPF Curriculum Slides</vt:lpstr>
      <vt:lpstr>Lesson: Computer systems and system software</vt:lpstr>
      <vt:lpstr>What makes a computer?</vt:lpstr>
      <vt:lpstr>What makes a computer?</vt:lpstr>
      <vt:lpstr>What is a computer?</vt:lpstr>
      <vt:lpstr>Spot the embedded systems</vt:lpstr>
      <vt:lpstr>Spot the embedded systems</vt:lpstr>
      <vt:lpstr>Spot the embedded systems</vt:lpstr>
      <vt:lpstr>Spot the embedded systems</vt:lpstr>
      <vt:lpstr>Spot the embedded systems</vt:lpstr>
      <vt:lpstr>Spot the embedded systems</vt:lpstr>
      <vt:lpstr>Spot the embedded systems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The start-up sequence</vt:lpstr>
      <vt:lpstr>Operating systems and system software</vt:lpstr>
      <vt:lpstr>Operating systems and system software</vt:lpstr>
      <vt:lpstr>Operating systems and system software</vt:lpstr>
      <vt:lpstr>Operating systems</vt:lpstr>
      <vt:lpstr>The roles of an operating system</vt:lpstr>
      <vt:lpstr>The roles of an operating system</vt:lpstr>
      <vt:lpstr>The roles of an operating system</vt:lpstr>
      <vt:lpstr>Lesson: The CPU</vt:lpstr>
      <vt:lpstr>Utility software</vt:lpstr>
      <vt:lpstr>Utility software</vt:lpstr>
      <vt:lpstr>Von Neumann architecture</vt:lpstr>
      <vt:lpstr>Von Neumann architecture</vt:lpstr>
      <vt:lpstr>Von Neumann architecture</vt:lpstr>
      <vt:lpstr>Von Neumann architecture</vt:lpstr>
      <vt:lpstr>Von Neumann architecture</vt:lpstr>
      <vt:lpstr>Inside the CPU</vt:lpstr>
      <vt:lpstr>Inside the CPU</vt:lpstr>
      <vt:lpstr>Inside the CPU</vt:lpstr>
      <vt:lpstr>Inside the CPU</vt:lpstr>
      <vt:lpstr>Inside the CPU</vt:lpstr>
      <vt:lpstr>Inside the CPU</vt:lpstr>
      <vt:lpstr>Inside the CPU</vt:lpstr>
      <vt:lpstr>Inside the CPU</vt:lpstr>
      <vt:lpstr>Lesson: Main memory</vt:lpstr>
      <vt:lpstr>Main memory</vt:lpstr>
      <vt:lpstr>Main memory</vt:lpstr>
      <vt:lpstr>Main memory</vt:lpstr>
      <vt:lpstr>Main memory</vt:lpstr>
      <vt:lpstr>Main memory</vt:lpstr>
      <vt:lpstr>Main memory</vt:lpstr>
      <vt:lpstr>Main memory</vt:lpstr>
      <vt:lpstr>Main memory</vt:lpstr>
      <vt:lpstr>Main memory</vt:lpstr>
      <vt:lpstr>Lesson: Logic gates</vt:lpstr>
      <vt:lpstr>All very logical!</vt:lpstr>
      <vt:lpstr>All very logical!</vt:lpstr>
      <vt:lpstr>All very logical!</vt:lpstr>
      <vt:lpstr>All very logical!</vt:lpstr>
      <vt:lpstr>The three fundamental gates</vt:lpstr>
      <vt:lpstr>All very logical!</vt:lpstr>
      <vt:lpstr>All very logical!</vt:lpstr>
      <vt:lpstr>All very logical!</vt:lpstr>
      <vt:lpstr>The three fundamental gates.</vt:lpstr>
      <vt:lpstr>The three fundamental gates: AND</vt:lpstr>
      <vt:lpstr>The three fundamental gates: OR</vt:lpstr>
      <vt:lpstr>The three fundamental gates: NOT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Activity: Putting it all together</vt:lpstr>
      <vt:lpstr>Solutions: Putting it all together</vt:lpstr>
      <vt:lpstr>Lesson: What is a computer network?</vt:lpstr>
      <vt:lpstr>How many routes are there?</vt:lpstr>
      <vt:lpstr>Examples of networks</vt:lpstr>
      <vt:lpstr>Examples of networks</vt:lpstr>
      <vt:lpstr>Examples of networks</vt:lpstr>
      <vt:lpstr>Drawing a network</vt:lpstr>
      <vt:lpstr>Drawing a network</vt:lpstr>
      <vt:lpstr>Drawing a network</vt:lpstr>
      <vt:lpstr>A computer network</vt:lpstr>
      <vt:lpstr>How do computers share resources?</vt:lpstr>
      <vt:lpstr>Two models</vt:lpstr>
      <vt:lpstr>The client–server model</vt:lpstr>
      <vt:lpstr>The peer-to-peer model</vt:lpstr>
      <vt:lpstr>The peer-to-peer model</vt:lpstr>
      <vt:lpstr>Scenario 1</vt:lpstr>
      <vt:lpstr>Scenario 1</vt:lpstr>
      <vt:lpstr>Scenario 1</vt:lpstr>
      <vt:lpstr>The peer-to-peer model</vt:lpstr>
      <vt:lpstr>Advantages and disadvantages</vt:lpstr>
      <vt:lpstr>Advantages and disadvantages: model answers</vt:lpstr>
      <vt:lpstr>Advantages and disadvantages: model answers</vt:lpstr>
      <vt:lpstr>Peer-to-peer network: real-world examples</vt:lpstr>
      <vt:lpstr>Peer-to-peer network: real-world examples</vt:lpstr>
      <vt:lpstr>Peer-to-peer network: real-world examples</vt:lpstr>
      <vt:lpstr>Lesson: The client–server model</vt:lpstr>
      <vt:lpstr>Write a definition</vt:lpstr>
      <vt:lpstr>Client–server model</vt:lpstr>
      <vt:lpstr>Client–server model</vt:lpstr>
      <vt:lpstr>Client–server model</vt:lpstr>
      <vt:lpstr>Scenario 1</vt:lpstr>
      <vt:lpstr>Scenario 1</vt:lpstr>
      <vt:lpstr>Scenario 1</vt:lpstr>
      <vt:lpstr>The client–server model</vt:lpstr>
      <vt:lpstr>Advantages and disadvantages</vt:lpstr>
      <vt:lpstr>Advantages and disadvantages: model answers</vt:lpstr>
      <vt:lpstr>Advantages and disadvantages: model answers</vt:lpstr>
      <vt:lpstr>Peer-to-peer vs client–server model</vt:lpstr>
      <vt:lpstr>Peer-to-peer vs client–server model</vt:lpstr>
      <vt:lpstr>Peer-to-peer vs client–server model</vt:lpstr>
      <vt:lpstr>PANs, LANs, and WANs</vt:lpstr>
      <vt:lpstr>Personal area network (PAN)</vt:lpstr>
      <vt:lpstr>Local area network (LAN)</vt:lpstr>
      <vt:lpstr>Local area network (LAN)</vt:lpstr>
      <vt:lpstr>Wide area network (WAN)</vt:lpstr>
      <vt:lpstr>Wide area network (WAN)</vt:lpstr>
      <vt:lpstr>PANs, LANs, and WANs</vt:lpstr>
      <vt:lpstr>Lesson: Network hardware</vt:lpstr>
      <vt:lpstr>Wireless access point</vt:lpstr>
      <vt:lpstr>Wireless access point</vt:lpstr>
      <vt:lpstr>Router</vt:lpstr>
      <vt:lpstr>Router</vt:lpstr>
      <vt:lpstr>Switch</vt:lpstr>
      <vt:lpstr>Switch</vt:lpstr>
      <vt:lpstr>Which of these symbols is used for a router?</vt:lpstr>
      <vt:lpstr>Which device is used to connect a network to another network?</vt:lpstr>
      <vt:lpstr>Which device sends data to the correct wired device?</vt:lpstr>
      <vt:lpstr>Which device connects a wireless device to a network?</vt:lpstr>
      <vt:lpstr>Hub</vt:lpstr>
      <vt:lpstr>Hub</vt:lpstr>
      <vt:lpstr>Network interface card (NIC)</vt:lpstr>
      <vt:lpstr>Network interface card (NIC)</vt:lpstr>
      <vt:lpstr>Bridge</vt:lpstr>
      <vt:lpstr>Bridge</vt:lpstr>
      <vt:lpstr>Which device broadcasts data to all wired devices attached to it?</vt:lpstr>
      <vt:lpstr>Which device links one LAN to another LAN?</vt:lpstr>
      <vt:lpstr>Which device has a unique MAC address to make it identifiable on a network?</vt:lpstr>
      <vt:lpstr>Selecting hardware for a network</vt:lpstr>
      <vt:lpstr>What am I?</vt:lpstr>
      <vt:lpstr>What am I?</vt:lpstr>
      <vt:lpstr>What am I?</vt:lpstr>
      <vt:lpstr>What am I?</vt:lpstr>
      <vt:lpstr>What am I?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Shehara Rodrigo</cp:lastModifiedBy>
  <cp:revision>1</cp:revision>
  <dcterms:modified xsi:type="dcterms:W3CDTF">2026-02-14T01:06:58Z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0x0101005C553CB9B82C3947A68B7DCEEBDE16D1</vt:lpwstr>
  </property>
</Properties>
</file>